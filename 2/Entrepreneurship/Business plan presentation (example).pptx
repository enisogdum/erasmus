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80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3830D-2495-7958-F581-68475FAF9947}" v="2" dt="2026-05-25T10:57:34.749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Silva" userId="S::sf61823@zut.edu.pl::2927aaec-bdee-459b-97c6-cde66c6ac4dc" providerId="AD" clId="Web-{98D3830D-2495-7958-F581-68475FAF9947}"/>
    <pc:docChg chg="modSld">
      <pc:chgData name="Francisco Silva" userId="S::sf61823@zut.edu.pl::2927aaec-bdee-459b-97c6-cde66c6ac4dc" providerId="AD" clId="Web-{98D3830D-2495-7958-F581-68475FAF9947}" dt="2026-05-25T10:57:34.749" v="1" actId="20577"/>
      <pc:docMkLst>
        <pc:docMk/>
      </pc:docMkLst>
      <pc:sldChg chg="modSp">
        <pc:chgData name="Francisco Silva" userId="S::sf61823@zut.edu.pl::2927aaec-bdee-459b-97c6-cde66c6ac4dc" providerId="AD" clId="Web-{98D3830D-2495-7958-F581-68475FAF9947}" dt="2026-05-25T10:57:34.749" v="1" actId="20577"/>
        <pc:sldMkLst>
          <pc:docMk/>
          <pc:sldMk cId="1566073541" sldId="280"/>
        </pc:sldMkLst>
        <pc:spChg chg="mod">
          <ac:chgData name="Francisco Silva" userId="S::sf61823@zut.edu.pl::2927aaec-bdee-459b-97c6-cde66c6ac4dc" providerId="AD" clId="Web-{98D3830D-2495-7958-F581-68475FAF9947}" dt="2026-05-25T10:57:34.749" v="1" actId="20577"/>
          <ac:spMkLst>
            <pc:docMk/>
            <pc:sldMk cId="1566073541" sldId="28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FCDF2E-125B-4904-BFDC-8DC317C119A0}" type="datetime1">
              <a:rPr lang="en-GB" smtClean="0">
                <a:latin typeface="Calibri" panose="020F0502020204030204" pitchFamily="34" charset="0"/>
              </a:rPr>
              <a:t>25/05/2026</a:t>
            </a:fld>
            <a:endParaRPr lang="en-GB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80BE5A-9D85-4716-9443-9D9E66ACB5E5}" type="slidenum">
              <a:rPr lang="en-GB" smtClean="0">
                <a:latin typeface="Calibri" panose="020F0502020204030204" pitchFamily="34" charset="0"/>
              </a:rPr>
              <a:t>‹nº›</a:t>
            </a:fld>
            <a:endParaRPr lang="en-GB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7826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6E0E5EF-EB89-45C4-B0C8-8F65085A6317}" type="datetime1">
              <a:rPr lang="en-GB" noProof="0" smtClean="0"/>
              <a:t>25/05/2026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1E05635-4EFD-4447-A451-86C57984FA8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06602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223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053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7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335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35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494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391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794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479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58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726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05635-4EFD-4447-A451-86C57984FA89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08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 bwMode="grayWhite"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rtlCol="0" anchor="ctr"/>
          <a:lstStyle>
            <a:lvl1pPr algn="ctr">
              <a:defRPr lang="en-US" dirty="0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 rtlCol="0"/>
          <a:lstStyle>
            <a:lvl1pPr marL="0" indent="0" algn="ctr">
              <a:buNone/>
              <a:defRPr sz="260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pl-PL" noProof="0"/>
              <a:t>Kliknij, aby edytować styl wzorca podtytułu</a:t>
            </a:r>
            <a:endParaRPr kumimoji="0" lang="en-GB" noProof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 lIns="0" tIns="0" rIns="0" bIns="0" rtlCol="0">
            <a:noAutofit/>
          </a:bodyPr>
          <a:lstStyle>
            <a:lvl1pPr>
              <a:defRPr sz="1400">
                <a:solidFill>
                  <a:srgbClr val="FFFFFF"/>
                </a:solidFill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7771D3B7-C20A-4078-B534-E81D55B9CF36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00697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1219200" y="1447800"/>
            <a:ext cx="10363200" cy="4572000"/>
          </a:xfrm>
        </p:spPr>
        <p:txBody>
          <a:bodyPr vert="horz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245F862A-3ECD-43ED-9C7D-229494A3DAD2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439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rtlCol="0" anchor="b" anchorCtr="0"/>
          <a:lstStyle>
            <a:lvl1pPr algn="l">
              <a:buNone/>
              <a:defRPr sz="4000" b="0" cap="none"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547938"/>
            <a:ext cx="10363200" cy="1338262"/>
          </a:xfrm>
        </p:spPr>
        <p:txBody>
          <a:bodyPr rtlCol="0" anchor="t" anchorCtr="0"/>
          <a:lstStyle>
            <a:lvl1pPr marL="0" indent="0">
              <a:buNone/>
              <a:defRPr sz="240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F9E98039-76F6-48E1-BDFB-C3F140530241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226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 hasCustomPrompt="1"/>
          </p:nvPr>
        </p:nvSpPr>
        <p:spPr>
          <a:xfrm>
            <a:off x="1219200" y="1447800"/>
            <a:ext cx="4998720" cy="4572000"/>
          </a:xfrm>
        </p:spPr>
        <p:txBody>
          <a:bodyPr vert="horz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 hasCustomPrompt="1"/>
          </p:nvPr>
        </p:nvSpPr>
        <p:spPr>
          <a:xfrm>
            <a:off x="6578600" y="1447800"/>
            <a:ext cx="4998720" cy="4572000"/>
          </a:xfrm>
        </p:spPr>
        <p:txBody>
          <a:bodyPr vert="horz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9B21DF3B-5506-4860-B125-DABC8D93F241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5849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rtlCol="0" anchor="b" anchorCtr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rtlCol="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 hasCustomPrompt="1"/>
          </p:nvPr>
        </p:nvSpPr>
        <p:spPr>
          <a:xfrm>
            <a:off x="1219200" y="2247900"/>
            <a:ext cx="4978400" cy="3886200"/>
          </a:xfrm>
        </p:spPr>
        <p:txBody>
          <a:bodyPr vert="horz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 hasCustomPrompt="1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rtlCol="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 hasCustomPrompt="1"/>
          </p:nvPr>
        </p:nvSpPr>
        <p:spPr>
          <a:xfrm>
            <a:off x="6604000" y="2247900"/>
            <a:ext cx="4978400" cy="3886200"/>
          </a:xfrm>
        </p:spPr>
        <p:txBody>
          <a:bodyPr vert="horz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CF6477B5-2DB1-492C-BB56-DB927F0F342E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11274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5CD3C658-2689-4C58-9030-3CBC7D1063F7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307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8598194-16AF-469A-AEAE-9F009248AC55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11557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rtlCol="0" anchor="b" anchorCtr="0"/>
          <a:lstStyle>
            <a:lvl1pPr algn="l">
              <a:buNone/>
              <a:defRPr sz="4000" b="0"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962400" y="1600200"/>
            <a:ext cx="7620000" cy="4495800"/>
          </a:xfrm>
        </p:spPr>
        <p:txBody>
          <a:bodyPr vert="horz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 hasCustomPrompt="1"/>
          </p:nvPr>
        </p:nvSpPr>
        <p:spPr>
          <a:xfrm>
            <a:off x="1219200" y="1600200"/>
            <a:ext cx="2540000" cy="4495800"/>
          </a:xfrm>
        </p:spPr>
        <p:txBody>
          <a:bodyPr rtlCol="0"/>
          <a:lstStyle>
            <a:lvl1pPr marL="0" indent="0">
              <a:buNone/>
              <a:defRPr sz="1800">
                <a:latin typeface="Calibri" panose="020F0502020204030204" pitchFamily="34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3D61D1EB-0A3A-4047-B9F8-D76D4DBFF93A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6269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rtlCol="0" anchor="ctr">
            <a:noAutofit/>
          </a:bodyPr>
          <a:lstStyle>
            <a:lvl1pPr algn="l">
              <a:buNone/>
              <a:defRPr sz="2800" b="0"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rtlCol="0"/>
          <a:lstStyle>
            <a:lvl1pPr marL="0" indent="0">
              <a:buNone/>
              <a:defRPr sz="3200"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  <a:endParaRPr kumimoji="0"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19200" y="5445825"/>
            <a:ext cx="9753600" cy="685800"/>
          </a:xfrm>
        </p:spPr>
        <p:txBody>
          <a:bodyPr rtlCol="0"/>
          <a:lstStyle>
            <a:lvl1pPr marL="0" indent="0">
              <a:buFontTx/>
              <a:buNone/>
              <a:defRPr sz="1600">
                <a:latin typeface="Calibri" panose="020F0502020204030204" pitchFamily="34" charset="0"/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583AC381-6A80-4316-8A23-559B757B7046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2657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F756C046-ECD3-441B-B104-BF90CD5FC4AC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07736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219200" y="274641"/>
            <a:ext cx="7416800" cy="5851525"/>
          </a:xfrm>
        </p:spPr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BD41E991-4CD6-4801-BC72-84BD8898F176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23587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>
              <a:latin typeface="Calibri" panose="020F0502020204030204" pitchFamily="34" charset="0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rtlCol="0" anchor="b" anchorCtr="0">
            <a:normAutofit/>
          </a:bodyPr>
          <a:lstStyle/>
          <a:p>
            <a:pPr rtl="0"/>
            <a:r>
              <a:rPr lang="pl-PL" noProof="0"/>
              <a:t>Kliknij, aby edytować styl</a:t>
            </a:r>
            <a:endParaRPr kumimoji="0" lang="en-GB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 rtl="0" eaLnBrk="1" latinLnBrk="0" hangingPunct="1"/>
            <a:r>
              <a:rPr lang="pl-PL" noProof="0"/>
              <a:t>Kliknij, aby edytować style wzorca tekstu</a:t>
            </a:r>
          </a:p>
          <a:p>
            <a:pPr lvl="1" rtl="0" eaLnBrk="1" latinLnBrk="0" hangingPunct="1"/>
            <a:r>
              <a:rPr lang="pl-PL" noProof="0"/>
              <a:t>Drugi poziom</a:t>
            </a:r>
          </a:p>
          <a:p>
            <a:pPr lvl="2" rtl="0" eaLnBrk="1" latinLnBrk="0" hangingPunct="1"/>
            <a:r>
              <a:rPr lang="pl-PL" noProof="0"/>
              <a:t>Trzeci poziom</a:t>
            </a:r>
          </a:p>
          <a:p>
            <a:pPr lvl="3" rtl="0" eaLnBrk="1" latinLnBrk="0" hangingPunct="1"/>
            <a:r>
              <a:rPr lang="pl-PL" noProof="0"/>
              <a:t>Czwarty poziom</a:t>
            </a:r>
          </a:p>
          <a:p>
            <a:pPr lvl="4" rtl="0" eaLnBrk="1" latinLnBrk="0" hangingPunct="1"/>
            <a:r>
              <a:rPr lang="pl-PL" noProof="0"/>
              <a:t>Piąty poziom</a:t>
            </a:r>
            <a:endParaRPr kumimoji="0" lang="en-GB" noProof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txBody>
          <a:bodyPr wrap="none" lIns="0" tIns="0" rIns="0" bIns="0" rtlCol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fld id="{401CF334-2D5C-4859-84A6-CA7E6E43FAEB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rtlCol="0"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noProof="0"/>
              <a:t>Add a footer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rtlCol="0"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fld id="{9FF1026F-5C90-48AB-B1D8-D1FD430235C8}" type="datetime1">
              <a:rPr lang="en-GB" noProof="0" smtClean="0"/>
              <a:t>25/05/2026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3097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>
            <a:lumMod val="75000"/>
          </a:schemeClr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>
            <a:lumMod val="75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lumMod val="60000"/>
            <a:lumOff val="4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>
            <a:lumMod val="75000"/>
          </a:schemeClr>
        </a:buClr>
        <a:buFontTx/>
        <a:buChar char="o"/>
        <a:defRPr kumimoji="0"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lumMod val="75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285750" algn="l" rtl="0" eaLnBrk="1" latinLnBrk="0" hangingPunct="1">
        <a:spcBef>
          <a:spcPts val="370"/>
        </a:spcBef>
        <a:buClr>
          <a:schemeClr val="accent3">
            <a:lumMod val="50000"/>
          </a:schemeClr>
        </a:buClr>
        <a:buFont typeface="Arial" panose="020B0604020202020204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lIns="91440" tIns="45720" rIns="91440" bIns="91440" rtlCol="0" anchor="ctr" anchorCtr="0">
            <a:normAutofit/>
          </a:bodyPr>
          <a:lstStyle/>
          <a:p>
            <a:r>
              <a:rPr lang="en-GB" err="1">
                <a:latin typeface="Cambria"/>
                <a:ea typeface="Cambria"/>
              </a:rPr>
              <a:t>SmartLunch</a:t>
            </a:r>
            <a:r>
              <a:rPr lang="en-GB">
                <a:latin typeface="Cambria"/>
                <a:ea typeface="Cambria"/>
              </a:rPr>
              <a:t> Campus</a:t>
            </a:r>
            <a:endParaRPr lang="pt-PT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Business Plan</a:t>
            </a:r>
          </a:p>
        </p:txBody>
      </p:sp>
      <p:pic>
        <p:nvPicPr>
          <p:cNvPr id="5" name="Picture 4" descr="Logo placeholder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672" y="4936068"/>
            <a:ext cx="262967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7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Mission Statement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Clearly state your company’s long-term mission.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Try to use words that will help direct the growth of your company, but be as concise as possible.</a:t>
            </a:r>
          </a:p>
        </p:txBody>
      </p:sp>
    </p:spTree>
    <p:extLst>
      <p:ext uri="{BB962C8B-B14F-4D97-AF65-F5344CB8AC3E}">
        <p14:creationId xmlns:p14="http://schemas.microsoft.com/office/powerpoint/2010/main" val="172785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The Team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List CEO and key management by name.</a:t>
            </a:r>
          </a:p>
          <a:p>
            <a:pPr rtl="0"/>
            <a:r>
              <a:rPr lang="en-GB">
                <a:latin typeface="Calibri" panose="020F0502020204030204" pitchFamily="34" charset="0"/>
              </a:rPr>
              <a:t>Include previous accomplishments to show that these are people with a record of success.</a:t>
            </a:r>
          </a:p>
          <a:p>
            <a:pPr rtl="0"/>
            <a:r>
              <a:rPr lang="en-GB">
                <a:latin typeface="Calibri" panose="020F0502020204030204" pitchFamily="34" charset="0"/>
              </a:rPr>
              <a:t>Summarise number of years of experience in this field.</a:t>
            </a:r>
          </a:p>
        </p:txBody>
      </p:sp>
    </p:spTree>
    <p:extLst>
      <p:ext uri="{BB962C8B-B14F-4D97-AF65-F5344CB8AC3E}">
        <p14:creationId xmlns:p14="http://schemas.microsoft.com/office/powerpoint/2010/main" val="208895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Market 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Summarise your market in the past, present and future.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Review those changes in market share, leadership, players, market shifts, costs, pricing or competition that provide the opportunity for your company’s success.</a:t>
            </a:r>
          </a:p>
        </p:txBody>
      </p:sp>
    </p:spTree>
    <p:extLst>
      <p:ext uri="{BB962C8B-B14F-4D97-AF65-F5344CB8AC3E}">
        <p14:creationId xmlns:p14="http://schemas.microsoft.com/office/powerpoint/2010/main" val="307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Opportunities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Identify problems and opportunities.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State consumer problems, and define the nature of product/service opportunities that are created by those problems.</a:t>
            </a:r>
          </a:p>
          <a:p>
            <a:pPr rtl="0"/>
            <a:endParaRPr lang="en-GB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25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Business concept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Summarise the key technology, concept or strategy on which your business is based.</a:t>
            </a:r>
          </a:p>
        </p:txBody>
      </p:sp>
    </p:spTree>
    <p:extLst>
      <p:ext uri="{BB962C8B-B14F-4D97-AF65-F5344CB8AC3E}">
        <p14:creationId xmlns:p14="http://schemas.microsoft.com/office/powerpoint/2010/main" val="344810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Competition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Summarise the competition.</a:t>
            </a:r>
          </a:p>
          <a:p>
            <a:pPr rtl="0"/>
            <a:r>
              <a:rPr lang="en-GB">
                <a:latin typeface="Calibri" panose="020F0502020204030204" pitchFamily="34" charset="0"/>
              </a:rPr>
              <a:t>Outline your company’s competitive advantage.</a:t>
            </a:r>
          </a:p>
        </p:txBody>
      </p:sp>
    </p:spTree>
    <p:extLst>
      <p:ext uri="{BB962C8B-B14F-4D97-AF65-F5344CB8AC3E}">
        <p14:creationId xmlns:p14="http://schemas.microsoft.com/office/powerpoint/2010/main" val="142101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Goals and Objectives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List five-year goals.</a:t>
            </a:r>
          </a:p>
          <a:p>
            <a:pPr rtl="0"/>
            <a:r>
              <a:rPr lang="en-GB">
                <a:latin typeface="Calibri" panose="020F0502020204030204" pitchFamily="34" charset="0"/>
              </a:rPr>
              <a:t>State specific, measurable objectives for achieving your five-year goals.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List market-share objectives.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List revenue/profitability objectives.</a:t>
            </a:r>
          </a:p>
        </p:txBody>
      </p:sp>
    </p:spTree>
    <p:extLst>
      <p:ext uri="{BB962C8B-B14F-4D97-AF65-F5344CB8AC3E}">
        <p14:creationId xmlns:p14="http://schemas.microsoft.com/office/powerpoint/2010/main" val="16976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Financial Plan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Outline a high-level financial plan that defines your financial model and pricing assumptions. 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This plan should include expected annual sales and profits</a:t>
            </a:r>
            <a:r>
              <a:rPr lang="pl-PL">
                <a:latin typeface="Calibri" panose="020F0502020204030204" pitchFamily="34" charset="0"/>
              </a:rPr>
              <a:t>.</a:t>
            </a:r>
            <a:endParaRPr lang="en-GB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4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Resource requirements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List requirements for the following resources: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Personnel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Technology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Finances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Distribution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Promotion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Products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Services</a:t>
            </a:r>
          </a:p>
          <a:p>
            <a:pPr rtl="0"/>
            <a:endParaRPr lang="en-GB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97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Risks and rewards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Summarise the risks of the proposed project and how they will be addressed.</a:t>
            </a:r>
          </a:p>
          <a:p>
            <a:pPr rtl="0"/>
            <a:r>
              <a:rPr lang="en-GB">
                <a:latin typeface="Calibri" panose="020F0502020204030204" pitchFamily="34" charset="0"/>
              </a:rPr>
              <a:t>Estimate expected rewards, particularly if you are seeking funding.</a:t>
            </a:r>
          </a:p>
          <a:p>
            <a:pPr rtl="0"/>
            <a:endParaRPr lang="en-GB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00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>
                <a:latin typeface="Cambria" panose="02040503050406030204" pitchFamily="18" charset="0"/>
              </a:rPr>
              <a:t>Key issues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 rtlCol="0"/>
          <a:lstStyle/>
          <a:p>
            <a:pPr rtl="0"/>
            <a:r>
              <a:rPr lang="en-GB">
                <a:latin typeface="Calibri" panose="020F0502020204030204" pitchFamily="34" charset="0"/>
              </a:rPr>
              <a:t>Near term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Identify key decisions and issues that need immediate or near-term resolution.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State consequences of decision postponement.</a:t>
            </a:r>
          </a:p>
          <a:p>
            <a:pPr rtl="0"/>
            <a:r>
              <a:rPr lang="en-GB">
                <a:latin typeface="Calibri" panose="020F0502020204030204" pitchFamily="34" charset="0"/>
              </a:rPr>
              <a:t>Long term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Identify issues needing long-term resolution.</a:t>
            </a:r>
          </a:p>
          <a:p>
            <a:pPr lvl="1" rtl="0"/>
            <a:r>
              <a:rPr lang="en-GB">
                <a:latin typeface="Calibri" panose="020F0502020204030204" pitchFamily="34" charset="0"/>
              </a:rPr>
              <a:t>State consequences of decision postponement.</a:t>
            </a:r>
          </a:p>
          <a:p>
            <a:pPr rtl="0"/>
            <a:r>
              <a:rPr lang="en-GB">
                <a:latin typeface="Calibri" panose="020F0502020204030204" pitchFamily="34" charset="0"/>
              </a:rPr>
              <a:t>If you are seeking funding, be specific about any issues that require financial resources for resolution.</a:t>
            </a:r>
          </a:p>
        </p:txBody>
      </p:sp>
    </p:spTree>
    <p:extLst>
      <p:ext uri="{BB962C8B-B14F-4D97-AF65-F5344CB8AC3E}">
        <p14:creationId xmlns:p14="http://schemas.microsoft.com/office/powerpoint/2010/main" val="389960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usiness plan presentation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26627891_TF03460662" id="{4EE59AD2-4FC0-4DE5-A511-DF9FB1096AFF}" vid="{26619120-53DC-43F1-8002-393265FE4E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E7B500D4A89994B864E42715E449449" ma:contentTypeVersion="3" ma:contentTypeDescription="Utwórz nowy dokument." ma:contentTypeScope="" ma:versionID="d71dbe3d21bb36a5f7d6a082b547812c">
  <xsd:schema xmlns:xsd="http://www.w3.org/2001/XMLSchema" xmlns:xs="http://www.w3.org/2001/XMLSchema" xmlns:p="http://schemas.microsoft.com/office/2006/metadata/properties" xmlns:ns2="83833469-9888-406e-9d6b-239c9da9679e" targetNamespace="http://schemas.microsoft.com/office/2006/metadata/properties" ma:root="true" ma:fieldsID="ecd998b096000009bf211b6b27722c55" ns2:_="">
    <xsd:import namespace="83833469-9888-406e-9d6b-239c9da967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33469-9888-406e-9d6b-239c9da967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43E4E5-1A77-4E40-ADCD-DE64764F95D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08F1C1C-1992-4B26-9EA3-8A2174682C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23DEB9-BAF0-4102-94D5-3E480A258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33469-9888-406e-9d6b-239c9da967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Buissnes plan example</Template>
  <Application>Microsoft Office PowerPoint</Application>
  <PresentationFormat>Ecrã Panorâmico</PresentationFormat>
  <Slides>12</Slides>
  <Notes>12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Business plan presentation</vt:lpstr>
      <vt:lpstr>SmartLunch Campus</vt:lpstr>
      <vt:lpstr>Mission Statement</vt:lpstr>
      <vt:lpstr>The Team</vt:lpstr>
      <vt:lpstr>Market Summary</vt:lpstr>
      <vt:lpstr>Opportunities</vt:lpstr>
      <vt:lpstr>Business concept</vt:lpstr>
      <vt:lpstr>Competition</vt:lpstr>
      <vt:lpstr>Goals and Objectives</vt:lpstr>
      <vt:lpstr>Financial Plan</vt:lpstr>
      <vt:lpstr>Resource requirements</vt:lpstr>
      <vt:lpstr>Risks and rewards</vt:lpstr>
      <vt:lpstr>Key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Name</dc:title>
  <dc:creator>Błażej Suproń</dc:creator>
  <cp:revision>3</cp:revision>
  <dcterms:created xsi:type="dcterms:W3CDTF">2021-05-18T06:02:30Z</dcterms:created>
  <dcterms:modified xsi:type="dcterms:W3CDTF">2026-05-25T10:57:35Z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0x010100AE7B500D4A89994B864E42715E449449</vt:lpwstr>
  </property>
  <property fmtid="{D5CDD505-2E9C-101B-9397-08002B2CF9AE}" pid="3" name="Order">
    <vt:r8>74069300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