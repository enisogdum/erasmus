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9" d="100"/>
          <a:sy n="159" d="100"/>
        </p:scale>
        <p:origin x="30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864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77724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Student2Student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D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Learners. Empowering Futures.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74720" y="3794760"/>
            <a:ext cx="21945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4" name="Image 0" descr="/home/claude/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286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05840" y="2971800"/>
            <a:ext cx="1188720" cy="27432"/>
          </a:xfrm>
          <a:prstGeom prst="rect">
            <a:avLst/>
          </a:prstGeom>
          <a:solidFill>
            <a:srgbClr val="BDD9F2"/>
          </a:solidFill>
          <a:ln w="12700">
            <a:solidFill>
              <a:srgbClr val="BDD9F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5"/>
          <p:cNvSpPr/>
          <p:nvPr/>
        </p:nvSpPr>
        <p:spPr>
          <a:xfrm>
            <a:off x="22860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D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83280" y="914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0B5E9C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10" name="Text 7"/>
          <p:cNvSpPr/>
          <p:nvPr/>
        </p:nvSpPr>
        <p:spPr>
          <a:xfrm>
            <a:off x="3474720" y="82296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goal is to make high-quality education accessible and affordable by connecting talented students with learners worldwide through an innovative online learning platform.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342900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2" name="Shape 9"/>
          <p:cNvSpPr/>
          <p:nvPr/>
        </p:nvSpPr>
        <p:spPr>
          <a:xfrm>
            <a:off x="3474720" y="3429000"/>
            <a:ext cx="1691640" cy="6400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Shape 10"/>
          <p:cNvSpPr/>
          <p:nvPr/>
        </p:nvSpPr>
        <p:spPr>
          <a:xfrm>
            <a:off x="3593592" y="361188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/>
          <p:nvPr/>
        </p:nvSpPr>
        <p:spPr>
          <a:xfrm>
            <a:off x="3858768" y="3566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5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93592" y="3931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everyone, everywhere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257800" y="342900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7" name="Shape 14"/>
          <p:cNvSpPr/>
          <p:nvPr/>
        </p:nvSpPr>
        <p:spPr>
          <a:xfrm>
            <a:off x="5257800" y="3429000"/>
            <a:ext cx="1691640" cy="6400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hape 15"/>
          <p:cNvSpPr/>
          <p:nvPr/>
        </p:nvSpPr>
        <p:spPr>
          <a:xfrm>
            <a:off x="5376672" y="361188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6"/>
          <p:cNvSpPr/>
          <p:nvPr/>
        </p:nvSpPr>
        <p:spPr>
          <a:xfrm>
            <a:off x="5641848" y="3566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5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76672" y="3931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without financial barriers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040880" y="342900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2" name="Shape 19"/>
          <p:cNvSpPr/>
          <p:nvPr/>
        </p:nvSpPr>
        <p:spPr>
          <a:xfrm>
            <a:off x="7040880" y="3429000"/>
            <a:ext cx="1691640" cy="6400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Shape 20"/>
          <p:cNvSpPr/>
          <p:nvPr/>
        </p:nvSpPr>
        <p:spPr>
          <a:xfrm>
            <a:off x="7159752" y="361188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1"/>
          <p:cNvSpPr/>
          <p:nvPr/>
        </p:nvSpPr>
        <p:spPr>
          <a:xfrm>
            <a:off x="7424928" y="3566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5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159752" y="3931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Peer-powered online learning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BD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7" name="Shape 5"/>
          <p:cNvSpPr/>
          <p:nvPr/>
        </p:nvSpPr>
        <p:spPr>
          <a:xfrm>
            <a:off x="182880" y="749808"/>
            <a:ext cx="2697480" cy="105156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987552" y="960120"/>
            <a:ext cx="1088136" cy="10881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9" name="Image 0" descr="/home/claude/photo_en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024128"/>
            <a:ext cx="960120" cy="960120"/>
          </a:xfrm>
          <a:prstGeom prst="ellipse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1396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Enis Ögdüm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4048" y="2487168"/>
            <a:ext cx="2295144" cy="246888"/>
          </a:xfrm>
          <a:prstGeom prst="rect">
            <a:avLst/>
          </a:prstGeom>
          <a:solidFill>
            <a:srgbClr val="E8F1FA"/>
          </a:solidFill>
          <a:ln w="12700">
            <a:solidFill>
              <a:srgbClr val="BDD9F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/>
          <p:nvPr/>
        </p:nvSpPr>
        <p:spPr>
          <a:xfrm>
            <a:off x="384048" y="2487168"/>
            <a:ext cx="2295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5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Founder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0896" y="2898648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1"/>
          <p:cNvSpPr/>
          <p:nvPr/>
        </p:nvSpPr>
        <p:spPr>
          <a:xfrm>
            <a:off x="429768" y="2834640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student &amp; platform founder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10896" y="316382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/>
          <p:nvPr/>
        </p:nvSpPr>
        <p:spPr>
          <a:xfrm>
            <a:off x="429768" y="3099816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gap in affordable peer-to-peer education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10896" y="342900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5"/>
          <p:cNvSpPr/>
          <p:nvPr/>
        </p:nvSpPr>
        <p:spPr>
          <a:xfrm>
            <a:off x="429768" y="3364992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in software dev &amp; EdTech projects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10896" y="3694176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7"/>
          <p:cNvSpPr/>
          <p:nvPr/>
        </p:nvSpPr>
        <p:spPr>
          <a:xfrm>
            <a:off x="429768" y="3630168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Erasmus participant with international academic experience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040380" y="749808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2" name="Shape 19"/>
          <p:cNvSpPr/>
          <p:nvPr/>
        </p:nvSpPr>
        <p:spPr>
          <a:xfrm>
            <a:off x="3040380" y="749808"/>
            <a:ext cx="2697480" cy="1051560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Shape 20"/>
          <p:cNvSpPr/>
          <p:nvPr/>
        </p:nvSpPr>
        <p:spPr>
          <a:xfrm>
            <a:off x="3845052" y="960120"/>
            <a:ext cx="1088136" cy="10881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24" name="Image 1" descr="/home/claude/photo_din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060" y="1024128"/>
            <a:ext cx="960120" cy="960120"/>
          </a:xfrm>
          <a:prstGeom prst="ellipse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131820" y="21396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Dinis Marquez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241548" y="2487168"/>
            <a:ext cx="2295144" cy="246888"/>
          </a:xfrm>
          <a:prstGeom prst="rect">
            <a:avLst/>
          </a:prstGeom>
          <a:solidFill>
            <a:srgbClr val="E8F1FA"/>
          </a:solidFill>
          <a:ln w="12700">
            <a:solidFill>
              <a:srgbClr val="BDD9F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3"/>
          <p:cNvSpPr/>
          <p:nvPr/>
        </p:nvSpPr>
        <p:spPr>
          <a:xfrm>
            <a:off x="3241548" y="2487168"/>
            <a:ext cx="2295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5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168396" y="2898648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5"/>
          <p:cNvSpPr/>
          <p:nvPr/>
        </p:nvSpPr>
        <p:spPr>
          <a:xfrm>
            <a:off x="3287268" y="2834640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and technology lead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3168396" y="316382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Text 27"/>
          <p:cNvSpPr/>
          <p:nvPr/>
        </p:nvSpPr>
        <p:spPr>
          <a:xfrm>
            <a:off x="3287268" y="3099816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architecture, development &amp; cybersecurity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3168396" y="342900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29"/>
          <p:cNvSpPr/>
          <p:nvPr/>
        </p:nvSpPr>
        <p:spPr>
          <a:xfrm>
            <a:off x="3287268" y="3364992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in web technologies &amp; digital products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3168396" y="3694176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31"/>
          <p:cNvSpPr/>
          <p:nvPr/>
        </p:nvSpPr>
        <p:spPr>
          <a:xfrm>
            <a:off x="3287268" y="3630168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scalable, user-friendly learning platform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5897880" y="749808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7" name="Shape 33"/>
          <p:cNvSpPr/>
          <p:nvPr/>
        </p:nvSpPr>
        <p:spPr>
          <a:xfrm>
            <a:off x="5897880" y="749808"/>
            <a:ext cx="2697480" cy="1051560"/>
          </a:xfrm>
          <a:prstGeom prst="rect">
            <a:avLst/>
          </a:prstGeom>
          <a:solidFill>
            <a:srgbClr val="E89B10"/>
          </a:solidFill>
          <a:ln w="12700">
            <a:solidFill>
              <a:srgbClr val="E89B1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8" name="Shape 34"/>
          <p:cNvSpPr/>
          <p:nvPr/>
        </p:nvSpPr>
        <p:spPr>
          <a:xfrm>
            <a:off x="6702552" y="960120"/>
            <a:ext cx="1088136" cy="10881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39" name="Image 2" descr="/home/claude/photo_andre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024128"/>
            <a:ext cx="960120" cy="960120"/>
          </a:xfrm>
          <a:prstGeom prst="ellipse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989320" y="21396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Andreas Merter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6099048" y="2487168"/>
            <a:ext cx="2295144" cy="246888"/>
          </a:xfrm>
          <a:prstGeom prst="rect">
            <a:avLst/>
          </a:prstGeom>
          <a:solidFill>
            <a:srgbClr val="E8F1FA"/>
          </a:solidFill>
          <a:ln w="12700">
            <a:solidFill>
              <a:srgbClr val="BDD9F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Text 37"/>
          <p:cNvSpPr/>
          <p:nvPr/>
        </p:nvSpPr>
        <p:spPr>
          <a:xfrm>
            <a:off x="6099048" y="2487168"/>
            <a:ext cx="2295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5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Academic Officer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6025896" y="2898648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4" name="Text 39"/>
          <p:cNvSpPr/>
          <p:nvPr/>
        </p:nvSpPr>
        <p:spPr>
          <a:xfrm>
            <a:off x="6144768" y="2834640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and academic operations lead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6025896" y="316382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Text 41"/>
          <p:cNvSpPr/>
          <p:nvPr/>
        </p:nvSpPr>
        <p:spPr>
          <a:xfrm>
            <a:off x="6144768" y="3099816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recruitment, course quality &amp; standards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6025896" y="342900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8" name="Text 43"/>
          <p:cNvSpPr/>
          <p:nvPr/>
        </p:nvSpPr>
        <p:spPr>
          <a:xfrm>
            <a:off x="6144768" y="3364992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in mentoring &amp; academic support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6025896" y="3694176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0" name="Text 45"/>
          <p:cNvSpPr/>
          <p:nvPr/>
        </p:nvSpPr>
        <p:spPr>
          <a:xfrm>
            <a:off x="6144768" y="3630168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quality and effectiveness of all content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182880" y="4069080"/>
            <a:ext cx="8778240" cy="91440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2" name="Shape 47"/>
          <p:cNvSpPr/>
          <p:nvPr/>
        </p:nvSpPr>
        <p:spPr>
          <a:xfrm>
            <a:off x="182880" y="4069080"/>
            <a:ext cx="14630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3" name="Text 48"/>
          <p:cNvSpPr/>
          <p:nvPr/>
        </p:nvSpPr>
        <p:spPr>
          <a:xfrm>
            <a:off x="457200" y="4123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✶  Founding Story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457200" y="43708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Student2Student began as a friendship between three university students who shared a common vision: making quality education affordable and accessible. What started as helping classmates succeed academically evolved into the idea of creating a global student-to-student learning platform.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BD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2651760" cy="292608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2651760" cy="475488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301752" y="896112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301752" y="896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8961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" y="147218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10"/>
          <p:cNvSpPr/>
          <p:nvPr/>
        </p:nvSpPr>
        <p:spPr>
          <a:xfrm>
            <a:off x="457200" y="1399032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Schools, universities &amp; private tutoring dominated education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" y="203911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457200" y="196596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tutoring was expensive &amp; inaccessible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" y="260604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457200" y="2532888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limited by location and availability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0068" y="2267712"/>
            <a:ext cx="109728" cy="0"/>
          </a:xfrm>
          <a:prstGeom prst="line">
            <a:avLst/>
          </a:prstGeom>
          <a:noFill/>
          <a:ln w="25400">
            <a:solidFill>
              <a:srgbClr val="0B5E9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hape 16"/>
          <p:cNvSpPr/>
          <p:nvPr/>
        </p:nvSpPr>
        <p:spPr>
          <a:xfrm>
            <a:off x="2953512" y="804672"/>
            <a:ext cx="2651760" cy="2926080"/>
          </a:xfrm>
          <a:prstGeom prst="rect">
            <a:avLst/>
          </a:prstGeom>
          <a:solidFill>
            <a:srgbClr val="E3EEF8"/>
          </a:solidFill>
          <a:ln w="15240">
            <a:solidFill>
              <a:srgbClr val="9DC3E6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9" name="Shape 17"/>
          <p:cNvSpPr/>
          <p:nvPr/>
        </p:nvSpPr>
        <p:spPr>
          <a:xfrm>
            <a:off x="2953512" y="804672"/>
            <a:ext cx="2651760" cy="47548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Shape 18"/>
          <p:cNvSpPr/>
          <p:nvPr/>
        </p:nvSpPr>
        <p:spPr>
          <a:xfrm>
            <a:off x="3090672" y="896112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3090672" y="896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56432" y="8961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99816" y="147218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Text 22"/>
          <p:cNvSpPr/>
          <p:nvPr/>
        </p:nvSpPr>
        <p:spPr>
          <a:xfrm>
            <a:off x="3246120" y="1399032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 are increasingly popular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99816" y="203911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/>
          <p:nvPr/>
        </p:nvSpPr>
        <p:spPr>
          <a:xfrm>
            <a:off x="3246120" y="196596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seek affordable, flexible, personalized learning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99816" y="260604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6"/>
          <p:cNvSpPr/>
          <p:nvPr/>
        </p:nvSpPr>
        <p:spPr>
          <a:xfrm>
            <a:off x="3246120" y="2532888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remains for peer-to-peer learning platforms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99816" y="31729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8"/>
          <p:cNvSpPr/>
          <p:nvPr/>
        </p:nvSpPr>
        <p:spPr>
          <a:xfrm>
            <a:off x="3246120" y="309981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costs drive demand for lower-cost alternatives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18988" y="2267712"/>
            <a:ext cx="109728" cy="0"/>
          </a:xfrm>
          <a:prstGeom prst="line">
            <a:avLst/>
          </a:prstGeom>
          <a:noFill/>
          <a:ln w="25400">
            <a:solidFill>
              <a:srgbClr val="0B5E9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Shape 30"/>
          <p:cNvSpPr/>
          <p:nvPr/>
        </p:nvSpPr>
        <p:spPr>
          <a:xfrm>
            <a:off x="5742432" y="804672"/>
            <a:ext cx="2651760" cy="2926080"/>
          </a:xfrm>
          <a:prstGeom prst="rect">
            <a:avLst/>
          </a:prstGeom>
          <a:solidFill>
            <a:srgbClr val="D6EAFA"/>
          </a:solidFill>
          <a:ln w="15240">
            <a:solidFill>
              <a:srgbClr val="7AB8E8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3" name="Shape 31"/>
          <p:cNvSpPr/>
          <p:nvPr/>
        </p:nvSpPr>
        <p:spPr>
          <a:xfrm>
            <a:off x="5742432" y="804672"/>
            <a:ext cx="2651760" cy="475488"/>
          </a:xfrm>
          <a:prstGeom prst="rect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Shape 32"/>
          <p:cNvSpPr/>
          <p:nvPr/>
        </p:nvSpPr>
        <p:spPr>
          <a:xfrm>
            <a:off x="5879592" y="896112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33"/>
          <p:cNvSpPr/>
          <p:nvPr/>
        </p:nvSpPr>
        <p:spPr>
          <a:xfrm>
            <a:off x="5879592" y="896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45352" y="8961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888736" y="147218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8" name="Text 36"/>
          <p:cNvSpPr/>
          <p:nvPr/>
        </p:nvSpPr>
        <p:spPr>
          <a:xfrm>
            <a:off x="6035040" y="1399032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online education market growing rapidly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88736" y="203911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0" name="Text 38"/>
          <p:cNvSpPr/>
          <p:nvPr/>
        </p:nvSpPr>
        <p:spPr>
          <a:xfrm>
            <a:off x="6035040" y="196596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prefer digital &amp; community-driven learning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88736" y="260604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Text 40"/>
          <p:cNvSpPr/>
          <p:nvPr/>
        </p:nvSpPr>
        <p:spPr>
          <a:xfrm>
            <a:off x="6035040" y="2532888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models gain popularity for affordability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88736" y="31729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4" name="Text 42"/>
          <p:cNvSpPr/>
          <p:nvPr/>
        </p:nvSpPr>
        <p:spPr>
          <a:xfrm>
            <a:off x="6035040" y="309981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Student2Student aims to lead globally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64592" y="3858768"/>
            <a:ext cx="8814816" cy="109728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6" name="Shape 44"/>
          <p:cNvSpPr/>
          <p:nvPr/>
        </p:nvSpPr>
        <p:spPr>
          <a:xfrm>
            <a:off x="164592" y="3858768"/>
            <a:ext cx="146304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7" name="Text 45"/>
          <p:cNvSpPr/>
          <p:nvPr/>
        </p:nvSpPr>
        <p:spPr>
          <a:xfrm>
            <a:off x="411480" y="3913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✶  Why Student2Student Can Succeed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" y="427939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9" name="Text 47"/>
          <p:cNvSpPr/>
          <p:nvPr/>
        </p:nvSpPr>
        <p:spPr>
          <a:xfrm>
            <a:off x="557784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prices than traditional tutoring services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411480" y="458114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1" name="Text 49"/>
          <p:cNvSpPr/>
          <p:nvPr/>
        </p:nvSpPr>
        <p:spPr>
          <a:xfrm>
            <a:off x="557784" y="4507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instruction from academically successful students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4709160" y="427939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3" name="Text 51"/>
          <p:cNvSpPr/>
          <p:nvPr/>
        </p:nvSpPr>
        <p:spPr>
          <a:xfrm>
            <a:off x="4855464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 through a fully online platform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4709160" y="458114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5" name="Text 53"/>
          <p:cNvSpPr/>
          <p:nvPr/>
        </p:nvSpPr>
        <p:spPr>
          <a:xfrm>
            <a:off x="4855464" y="4507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demand for affordable educational support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4" name="SlideTitle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OPPORTUNITIES</a:t>
            </a:r>
          </a:p>
        </p:txBody>
      </p:sp>
      <p:sp>
        <p:nvSpPr>
          <p:cNvPr id="5" name="SlideNum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BDD9F2"/>
                </a:solidFill>
                <a:latin typeface="Calibri" pitchFamily="34" charset="0"/>
              </a:rPr>
              <a:t>05</a:t>
            </a:r>
          </a:p>
        </p:txBody>
      </p:sp>
      <p:sp>
        <p:nvSpPr>
          <p:cNvPr id="10" name="LeftCard"/>
          <p:cNvSpPr/>
          <p:nvPr/>
        </p:nvSpPr>
        <p:spPr>
          <a:xfrm>
            <a:off x="164592" y="731520"/>
            <a:ext cx="4206240" cy="320040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1" name="LeftCardHeader"/>
          <p:cNvSpPr/>
          <p:nvPr/>
        </p:nvSpPr>
        <p:spPr>
          <a:xfrm>
            <a:off x="164592" y="731520"/>
            <a:ext cx="4206240" cy="45720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12" name="LeftHeaderText"/>
          <p:cNvSpPr/>
          <p:nvPr/>
        </p:nvSpPr>
        <p:spPr>
          <a:xfrm>
            <a:off x="274320" y="731520"/>
            <a:ext cx="400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Consumer Problems</a:t>
            </a:r>
          </a:p>
        </p:txBody>
      </p:sp>
      <p:sp>
        <p:nvSpPr>
          <p:cNvPr id="13" name="LeftContent"/>
          <p:cNvSpPr/>
          <p:nvPr/>
        </p:nvSpPr>
        <p:spPr>
          <a:xfrm>
            <a:off x="274320" y="1234440"/>
            <a:ext cx="4006560" cy="260640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📌 Lack of Personalized Support</a:t>
            </a:r>
          </a:p>
          <a:p>
            <a:pPr marL="182880" indent="0" algn="l">
              <a:buNone/>
            </a:pPr>
            <a:r>
              <a:rPr lang="en-US" sz="950" dirty="0">
                <a:solidFill>
                  <a:srgbClr val="2D4A62"/>
                </a:solidFill>
                <a:latin typeface="Calibri" pitchFamily="34" charset="0"/>
              </a:rPr>
              <a:t>Large online courses often do not provide individual guidance.</a:t>
            </a:r>
          </a:p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📌 Difficulty Finding Reliable Tutors</a:t>
            </a:r>
          </a:p>
          <a:p>
            <a:pPr marL="182880" indent="0" algn="l">
              <a:buNone/>
            </a:pPr>
            <a:r>
              <a:rPr lang="en-US" sz="950" dirty="0">
                <a:solidFill>
                  <a:srgbClr val="2D4A62"/>
                </a:solidFill>
                <a:latin typeface="Calibri" pitchFamily="34" charset="0"/>
              </a:rPr>
              <a:t>Students struggle to identify qualified and trustworthy instructors.</a:t>
            </a:r>
          </a:p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📌 Knowledge Gap Between Students</a:t>
            </a:r>
          </a:p>
          <a:p>
            <a:pPr marL="182880" indent="0" algn="l">
              <a:buNone/>
            </a:pPr>
            <a:r>
              <a:rPr lang="en-US" sz="950" dirty="0">
                <a:solidFill>
                  <a:srgbClr val="2D4A62"/>
                </a:solidFill>
                <a:latin typeface="Calibri" pitchFamily="34" charset="0"/>
              </a:rPr>
              <a:t>High-achieving students have valuable knowledge that often remains unused outside their immediate circles.</a:t>
            </a:r>
          </a:p>
        </p:txBody>
      </p:sp>
      <p:sp>
        <p:nvSpPr>
          <p:cNvPr id="20" name="RightCard"/>
          <p:cNvSpPr/>
          <p:nvPr/>
        </p:nvSpPr>
        <p:spPr>
          <a:xfrm>
            <a:off x="4663440" y="731520"/>
            <a:ext cx="4315440" cy="320040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RightCardHeader"/>
          <p:cNvSpPr/>
          <p:nvPr/>
        </p:nvSpPr>
        <p:spPr>
          <a:xfrm>
            <a:off x="4663440" y="731520"/>
            <a:ext cx="4315440" cy="457200"/>
          </a:xfrm>
          <a:prstGeom prst="rect">
            <a:avLst/>
          </a:prstGeom>
          <a:solidFill>
            <a:srgbClr val="084A7A"/>
          </a:solidFill>
          <a:ln w="12700">
            <a:solidFill>
              <a:srgbClr val="084A7A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22" name="RightHeaderText"/>
          <p:cNvSpPr/>
          <p:nvPr/>
        </p:nvSpPr>
        <p:spPr>
          <a:xfrm>
            <a:off x="4773168" y="731520"/>
            <a:ext cx="409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Product / Service Opportunities</a:t>
            </a:r>
          </a:p>
        </p:txBody>
      </p:sp>
      <p:sp>
        <p:nvSpPr>
          <p:cNvPr id="23" name="RightContent"/>
          <p:cNvSpPr/>
          <p:nvPr/>
        </p:nvSpPr>
        <p:spPr>
          <a:xfrm>
            <a:off x="4773168" y="1234440"/>
            <a:ext cx="4095720" cy="260640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✅ Affordable Learning</a:t>
            </a:r>
          </a:p>
          <a:p>
            <a:pPr marL="182880" indent="0" algn="l">
              <a:buNone/>
            </a:pPr>
            <a:r>
              <a:rPr lang="en-US" sz="900" dirty="0">
                <a:solidFill>
                  <a:srgbClr val="BDD9F2"/>
                </a:solidFill>
                <a:latin typeface="Calibri" pitchFamily="34" charset="0"/>
              </a:rPr>
              <a:t>High-quality courses at lower prices than traditional services.</a:t>
            </a:r>
          </a:p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✅ Peer-to-Peer Education</a:t>
            </a:r>
          </a:p>
          <a:p>
            <a:pPr marL="182880" indent="0" algn="l">
              <a:buNone/>
            </a:pPr>
            <a:r>
              <a:rPr lang="en-US" sz="900" dirty="0">
                <a:solidFill>
                  <a:srgbClr val="BDD9F2"/>
                </a:solidFill>
                <a:latin typeface="Calibri" pitchFamily="34" charset="0"/>
              </a:rPr>
              <a:t>Learn from academically successful peers who understand your challenges.</a:t>
            </a:r>
          </a:p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✅ Verified Academic Experts</a:t>
            </a:r>
          </a:p>
          <a:p>
            <a:pPr marL="182880" indent="0" algn="l">
              <a:buNone/>
            </a:pPr>
            <a:r>
              <a:rPr lang="en-US" sz="900" dirty="0">
                <a:solidFill>
                  <a:srgbClr val="BDD9F2"/>
                </a:solidFill>
                <a:latin typeface="Calibri" pitchFamily="34" charset="0"/>
              </a:rPr>
              <a:t>Tutors selected based on academic performance and expertise.</a:t>
            </a:r>
          </a:p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✅ Flexible Online Access</a:t>
            </a:r>
          </a:p>
          <a:p>
            <a:pPr marL="182880" indent="0" algn="l">
              <a:buNone/>
            </a:pPr>
            <a:r>
              <a:rPr lang="en-US" sz="900" dirty="0">
                <a:solidFill>
                  <a:srgbClr val="BDD9F2"/>
                </a:solidFill>
                <a:latin typeface="Calibri" pitchFamily="34" charset="0"/>
              </a:rPr>
              <a:t>Access courses and tutoring sessions anytime, from anywhere.</a:t>
            </a:r>
          </a:p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✅ Community-Based Learning</a:t>
            </a:r>
          </a:p>
          <a:p>
            <a:pPr marL="182880" indent="0" algn="l">
              <a:buNone/>
            </a:pPr>
            <a:r>
              <a:rPr lang="en-US" sz="900" dirty="0">
                <a:solidFill>
                  <a:srgbClr val="BDD9F2"/>
                </a:solidFill>
                <a:latin typeface="Calibri" pitchFamily="34" charset="0"/>
              </a:rPr>
              <a:t>A global network where students help students succeed.</a:t>
            </a:r>
          </a:p>
        </p:txBody>
      </p:sp>
      <p:sp>
        <p:nvSpPr>
          <p:cNvPr id="30" name="SummaryBg"/>
          <p:cNvSpPr/>
          <p:nvPr/>
        </p:nvSpPr>
        <p:spPr>
          <a:xfrm>
            <a:off x="164592" y="4025520"/>
            <a:ext cx="8814816" cy="97596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31" name="StarAccent"/>
          <p:cNvSpPr/>
          <p:nvPr/>
        </p:nvSpPr>
        <p:spPr>
          <a:xfrm>
            <a:off x="164592" y="4025520"/>
            <a:ext cx="164592" cy="97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32" name="SummaryText"/>
          <p:cNvSpPr/>
          <p:nvPr/>
        </p:nvSpPr>
        <p:spPr>
          <a:xfrm>
            <a:off x="402336" y="4025520"/>
            <a:ext cx="8577072" cy="97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</a:rPr>
              <a:t>★  Student2Student transforms the knowledge of top-performing students into an affordable and accessible learning opportunity for learners worldwide.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4" name="SlideTitle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BUSINESS CONCEPT</a:t>
            </a:r>
          </a:p>
        </p:txBody>
      </p:sp>
      <p:sp>
        <p:nvSpPr>
          <p:cNvPr id="5" name="SlideNum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BDD9F2"/>
                </a:solidFill>
                <a:latin typeface="Calibri" pitchFamily="34" charset="0"/>
              </a:rPr>
              <a:t>06</a:t>
            </a:r>
          </a:p>
        </p:txBody>
      </p:sp>
      <p:sp>
        <p:nvSpPr>
          <p:cNvPr id="6" name="CoreBg"/>
          <p:cNvSpPr/>
          <p:nvPr/>
        </p:nvSpPr>
        <p:spPr>
          <a:xfrm>
            <a:off x="164592" y="719136"/>
            <a:ext cx="8814816" cy="54864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7" name="CoreAccent"/>
          <p:cNvSpPr/>
          <p:nvPr/>
        </p:nvSpPr>
        <p:spPr>
          <a:xfrm>
            <a:off x="164592" y="719136"/>
            <a:ext cx="9144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8" name="CoreText"/>
          <p:cNvSpPr/>
          <p:nvPr/>
        </p:nvSpPr>
        <p:spPr>
          <a:xfrm>
            <a:off x="338184" y="719136"/>
            <a:ext cx="8641224" cy="54864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>Student2Student is a peer-to-peer online learning platform connecting academically successful university students with learners seeking affordable, high-quality educational support. Top-performing students can create courses, provide tutoring, and share study materials while earning income from their expertise.</a:t>
            </a:r>
          </a:p>
        </p:txBody>
      </p:sp>
      <p:sp>
        <p:nvSpPr>
          <p:cNvPr id="10" name="TLCard"/>
          <p:cNvSpPr/>
          <p:nvPr/>
        </p:nvSpPr>
        <p:spPr>
          <a:xfrm>
            <a:off x="164592" y="1322496"/>
            <a:ext cx="4206240" cy="155448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63500" dist="25400" dir="5400000" algn="ctr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1" name="TLHeader"/>
          <p:cNvSpPr/>
          <p:nvPr/>
        </p:nvSpPr>
        <p:spPr>
          <a:xfrm>
            <a:off x="164592" y="1322496"/>
            <a:ext cx="4206240" cy="36576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12" name="TLHeaderText"/>
          <p:cNvSpPr/>
          <p:nvPr/>
        </p:nvSpPr>
        <p:spPr>
          <a:xfrm>
            <a:off x="274320" y="1322496"/>
            <a:ext cx="400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</a:rPr>
              <a:t>💻 Key Technology</a:t>
            </a:r>
          </a:p>
        </p:txBody>
      </p:sp>
      <p:sp>
        <p:nvSpPr>
          <p:cNvPr id="13" name="TLContent"/>
          <p:cNvSpPr/>
          <p:nvPr/>
        </p:nvSpPr>
        <p:spPr>
          <a:xfrm>
            <a:off x="274320" y="1724256"/>
            <a:ext cx="4006560" cy="1097280"/>
          </a:xfrm>
          <a:prstGeom prst="rect">
            <a:avLst/>
          </a:prstGeom>
          <a:noFill/>
          <a:ln/>
        </p:spPr>
        <p:txBody>
          <a:bodyPr wrap="square" lIns="0" tIns="0" rIns="91440" bIns="0" rtlCol="0" anchor="t"/>
          <a:lstStyle/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2D4A62"/>
                </a:solidFill>
                <a:latin typeface="Calibri" pitchFamily="34" charset="0"/>
              </a:rPr>
              <a:t>Cloud-based web &amp; mobile platform, accessible worldwide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2D4A62"/>
                </a:solidFill>
                <a:latin typeface="Calibri" pitchFamily="34" charset="0"/>
              </a:rPr>
              <a:t>Secure authentication &amp; profile verification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2D4A62"/>
                </a:solidFill>
                <a:latin typeface="Calibri" pitchFamily="34" charset="0"/>
              </a:rPr>
              <a:t>Video conferencing for live tutoring sessions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2D4A62"/>
                </a:solidFill>
                <a:latin typeface="Calibri" pitchFamily="34" charset="0"/>
              </a:rPr>
              <a:t>AI-powered recommendation engine for tutor matching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2D4A62"/>
                </a:solidFill>
                <a:latin typeface="Calibri" pitchFamily="34" charset="0"/>
              </a:rPr>
              <a:t>Online payment &amp; subscription system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2D4A62"/>
                </a:solidFill>
                <a:latin typeface="Calibri" pitchFamily="34" charset="0"/>
              </a:rPr>
              <a:t>Learning analytics dashboard for progress tracking</a:t>
            </a:r>
          </a:p>
        </p:txBody>
      </p:sp>
      <p:sp>
        <p:nvSpPr>
          <p:cNvPr id="20" name="TRCard"/>
          <p:cNvSpPr/>
          <p:nvPr/>
        </p:nvSpPr>
        <p:spPr>
          <a:xfrm>
            <a:off x="4663440" y="1322496"/>
            <a:ext cx="4315440" cy="155448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  <a:effectLst>
            <a:outerShdw blurRad="635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TRHeader"/>
          <p:cNvSpPr/>
          <p:nvPr/>
        </p:nvSpPr>
        <p:spPr>
          <a:xfrm>
            <a:off x="4663440" y="1322496"/>
            <a:ext cx="4315440" cy="365760"/>
          </a:xfrm>
          <a:prstGeom prst="rect">
            <a:avLst/>
          </a:prstGeom>
          <a:solidFill>
            <a:srgbClr val="084A7A"/>
          </a:solidFill>
          <a:ln w="12700">
            <a:solidFill>
              <a:srgbClr val="084A7A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22" name="TRHeaderText"/>
          <p:cNvSpPr/>
          <p:nvPr/>
        </p:nvSpPr>
        <p:spPr>
          <a:xfrm>
            <a:off x="4773168" y="1322496"/>
            <a:ext cx="409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</a:rPr>
              <a:t>📈 Business Strategy</a:t>
            </a:r>
          </a:p>
        </p:txBody>
      </p:sp>
      <p:sp>
        <p:nvSpPr>
          <p:cNvPr id="23" name="TRContent"/>
          <p:cNvSpPr/>
          <p:nvPr/>
        </p:nvSpPr>
        <p:spPr>
          <a:xfrm>
            <a:off x="4773168" y="1724256"/>
            <a:ext cx="4095720" cy="1097280"/>
          </a:xfrm>
          <a:prstGeom prst="rect">
            <a:avLst/>
          </a:prstGeom>
          <a:noFill/>
          <a:ln/>
        </p:spPr>
        <p:txBody>
          <a:bodyPr wrap="square" lIns="0" tIns="0" rIns="91440" bIns="0" rtlCol="0" anchor="t"/>
          <a:lstStyle/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Recruit outstanding students from leading universities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Offer courses &amp; tutoring at lower prices than traditional services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Revenue via course sales, tutoring commissions &amp; memberships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Build trust through tutor verification, ratings &amp; reviews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Expand internationally via university partnerships</a:t>
            </a:r>
          </a:p>
        </p:txBody>
      </p:sp>
      <p:sp>
        <p:nvSpPr>
          <p:cNvPr id="30" name="BLCard"/>
          <p:cNvSpPr/>
          <p:nvPr/>
        </p:nvSpPr>
        <p:spPr>
          <a:xfrm>
            <a:off x="164592" y="2941056"/>
            <a:ext cx="4206240" cy="100584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63500" dist="25400" dir="5400000" algn="ctr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1" name="BLHeader"/>
          <p:cNvSpPr/>
          <p:nvPr/>
        </p:nvSpPr>
        <p:spPr>
          <a:xfrm>
            <a:off x="164592" y="2941056"/>
            <a:ext cx="4206240" cy="32004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32" name="BLHeaderText"/>
          <p:cNvSpPr/>
          <p:nvPr/>
        </p:nvSpPr>
        <p:spPr>
          <a:xfrm>
            <a:off x="274320" y="2941056"/>
            <a:ext cx="400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</a:rPr>
              <a:t>🏆 Competitive Advantage</a:t>
            </a:r>
          </a:p>
        </p:txBody>
      </p:sp>
      <p:sp>
        <p:nvSpPr>
          <p:cNvPr id="33" name="BLContent"/>
          <p:cNvSpPr/>
          <p:nvPr/>
        </p:nvSpPr>
        <p:spPr>
          <a:xfrm>
            <a:off x="274320" y="3298896"/>
            <a:ext cx="4006560" cy="594000"/>
          </a:xfrm>
          <a:prstGeom prst="rect">
            <a:avLst/>
          </a:prstGeom>
          <a:noFill/>
          <a:ln/>
        </p:spPr>
        <p:txBody>
          <a:bodyPr wrap="square" lIns="0" tIns="0" rIns="91440" bIns="0" rtlCol="0" anchor="t"/>
          <a:lstStyle/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2D4A62"/>
                </a:solidFill>
                <a:latin typeface="Calibri" pitchFamily="34" charset="0"/>
              </a:rPr>
              <a:t>Peers who recently mastered the same subjects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2D4A62"/>
                </a:solidFill>
                <a:latin typeface="Calibri" pitchFamily="34" charset="0"/>
              </a:rPr>
              <a:t>Lower costs vs. professional tutoring platforms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2D4A62"/>
                </a:solidFill>
                <a:latin typeface="Calibri" pitchFamily="34" charset="0"/>
              </a:rPr>
              <a:t>More relatable &amp; engaging learning experience</a:t>
            </a:r>
          </a:p>
          <a:p>
            <a:pPr marL="137160" indent="-137160" algn="l">
              <a:buNone/>
            </a:pPr>
            <a:r>
              <a:rPr lang="en-US" sz="82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2D4A62"/>
                </a:solidFill>
                <a:latin typeface="Calibri" pitchFamily="34" charset="0"/>
              </a:rPr>
              <a:t>Global accessibility through a fully online platform</a:t>
            </a:r>
          </a:p>
        </p:txBody>
      </p:sp>
      <p:sp>
        <p:nvSpPr>
          <p:cNvPr id="40" name="BRCard"/>
          <p:cNvSpPr/>
          <p:nvPr/>
        </p:nvSpPr>
        <p:spPr>
          <a:xfrm>
            <a:off x="4663440" y="2941056"/>
            <a:ext cx="431544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  <a:effectLst>
            <a:outerShdw blurRad="635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41" name="BRCallout"/>
          <p:cNvSpPr/>
          <p:nvPr/>
        </p:nvSpPr>
        <p:spPr>
          <a:xfrm>
            <a:off x="4773168" y="2941056"/>
            <a:ext cx="4095720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</a:rPr>
              <a:t>3-in-1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Courses • Tutoring • Study Materials</a:t>
            </a:r>
          </a:p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</a:rPr>
              <a:t>One platform. All you need.</a:t>
            </a:r>
          </a:p>
        </p:txBody>
      </p:sp>
      <p:sp>
        <p:nvSpPr>
          <p:cNvPr id="50" name="ClosingBg"/>
          <p:cNvSpPr/>
          <p:nvPr/>
        </p:nvSpPr>
        <p:spPr>
          <a:xfrm>
            <a:off x="164592" y="4008960"/>
            <a:ext cx="8814816" cy="97596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51" name="ClosingAccent"/>
          <p:cNvSpPr/>
          <p:nvPr/>
        </p:nvSpPr>
        <p:spPr>
          <a:xfrm>
            <a:off x="164592" y="4008960"/>
            <a:ext cx="164592" cy="97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52" name="ClosingText"/>
          <p:cNvSpPr/>
          <p:nvPr/>
        </p:nvSpPr>
        <p:spPr>
          <a:xfrm>
            <a:off x="402336" y="4008960"/>
            <a:ext cx="8577072" cy="97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Georgia" pitchFamily="34" charset="0"/>
              </a:rPr>
              <a:t>★  Student2Student combines technology, peer-to-peer learning, and affordability to create a scalable educational ecosystem where students help students succeed.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4" name="SlideTitle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COMPETITION</a:t>
            </a:r>
          </a:p>
        </p:txBody>
      </p:sp>
      <p:sp>
        <p:nvSpPr>
          <p:cNvPr id="5" name="SlideNum"/>
          <p:cNvSpPr/>
          <p:nvPr/>
        </p:nvSpPr>
        <p:spPr>
          <a:xfrm>
            <a:off x="8419200" y="9144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0" name="CompetitorsHeader"/>
          <p:cNvSpPr/>
          <p:nvPr/>
        </p:nvSpPr>
        <p:spPr>
          <a:xfrm>
            <a:off x="228600" y="730000"/>
            <a:ext cx="3800000" cy="300000"/>
          </a:xfrm>
          <a:prstGeom prst="rect">
            <a:avLst/>
          </a:prstGeom>
          <a:solidFill>
            <a:srgbClr val="0B5E9C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Main Competitors</a:t>
            </a:r>
          </a:p>
        </p:txBody>
      </p:sp>
      <p:sp>
        <p:nvSpPr>
          <p:cNvPr id="11" name="Udemy"/>
          <p:cNvSpPr/>
          <p:nvPr/>
        </p:nvSpPr>
        <p:spPr>
          <a:xfrm>
            <a:off x="228600" y="1060000"/>
            <a:ext cx="38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300" b="1" dirty="0">
                <a:solidFill>
                  <a:srgbClr val="0B5E9C"/>
                </a:solidFill>
              </a:rPr>
              <a:t>📚 Udemy</a:t>
            </a:r>
          </a:p>
          <a:p>
            <a:pPr algn="l">
              <a:buNone/>
            </a:pPr>
            <a:r>
              <a:rPr lang="en-US" sz="1000" dirty="0">
                <a:solidFill>
                  <a:srgbClr val="444444"/>
                </a:solidFill>
              </a:rPr>
              <a:t>Large course marketplace · Thousands of courses · Limited personalized support</a:t>
            </a:r>
          </a:p>
        </p:txBody>
      </p:sp>
      <p:sp>
        <p:nvSpPr>
          <p:cNvPr id="12" name="Coursera"/>
          <p:cNvSpPr/>
          <p:nvPr/>
        </p:nvSpPr>
        <p:spPr>
          <a:xfrm>
            <a:off x="228600" y="1510000"/>
            <a:ext cx="38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300" b="1" dirty="0">
                <a:solidFill>
                  <a:srgbClr val="0B5E9C"/>
                </a:solidFill>
              </a:rPr>
              <a:t>🎓 Coursera</a:t>
            </a:r>
          </a:p>
          <a:p>
            <a:pPr algn="l">
              <a:buNone/>
            </a:pPr>
            <a:r>
              <a:rPr lang="en-US" sz="1000" dirty="0">
                <a:solidFill>
                  <a:srgbClr val="444444"/>
                </a:solidFill>
              </a:rPr>
              <a:t>University-backed courses · Higher costs · Institution-focused, not peer learning</a:t>
            </a:r>
          </a:p>
        </p:txBody>
      </p:sp>
      <p:sp>
        <p:nvSpPr>
          <p:cNvPr id="13" name="PrivateTutors"/>
          <p:cNvSpPr/>
          <p:nvPr/>
        </p:nvSpPr>
        <p:spPr>
          <a:xfrm>
            <a:off x="228600" y="1960000"/>
            <a:ext cx="38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300" b="1" dirty="0">
                <a:solidFill>
                  <a:srgbClr val="0B5E9C"/>
                </a:solidFill>
              </a:rPr>
              <a:t>👨‍🏫 Private Tutors</a:t>
            </a:r>
          </a:p>
          <a:p>
            <a:pPr algn="l">
              <a:buNone/>
            </a:pPr>
            <a:r>
              <a:rPr lang="en-US" sz="1000" dirty="0">
                <a:solidFill>
                  <a:srgbClr val="444444"/>
                </a:solidFill>
              </a:rPr>
              <a:t>Personalized experience · Expensive &amp; location-dependent · Not scalable</a:t>
            </a:r>
          </a:p>
        </p:txBody>
      </p:sp>
      <p:sp>
        <p:nvSpPr>
          <p:cNvPr id="14" name="OtherPlatforms"/>
          <p:cNvSpPr/>
          <p:nvPr/>
        </p:nvSpPr>
        <p:spPr>
          <a:xfrm>
            <a:off x="228600" y="2410000"/>
            <a:ext cx="3800000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300" b="1" dirty="0">
                <a:solidFill>
                  <a:srgbClr val="0B5E9C"/>
                </a:solidFill>
              </a:rPr>
              <a:t>🌐 Other Tutoring Platforms</a:t>
            </a:r>
          </a:p>
          <a:p>
            <a:pPr algn="l">
              <a:buNone/>
            </a:pPr>
            <a:r>
              <a:rPr lang="en-US" sz="1000" dirty="0">
                <a:solidFill>
                  <a:srgbClr val="444444"/>
                </a:solidFill>
              </a:rPr>
              <a:t>Connect students with tutors · High commissions and fees</a:t>
            </a:r>
          </a:p>
        </p:txBody>
      </p:sp>
      <p:sp>
        <p:nvSpPr>
          <p:cNvPr id="20" name="AdvHeader"/>
          <p:cNvSpPr/>
          <p:nvPr/>
        </p:nvSpPr>
        <p:spPr>
          <a:xfrm>
            <a:off x="4343600" y="730000"/>
            <a:ext cx="4571800" cy="300000"/>
          </a:xfrm>
          <a:prstGeom prst="rect">
            <a:avLst/>
          </a:prstGeom>
          <a:solidFill>
            <a:srgbClr val="1A7C3E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Student2Student Advantage</a:t>
            </a:r>
          </a:p>
        </p:txBody>
      </p:sp>
      <p:sp>
        <p:nvSpPr>
          <p:cNvPr id="21" name="Adv1"/>
          <p:cNvSpPr/>
          <p:nvPr/>
        </p:nvSpPr>
        <p:spPr>
          <a:xfrm>
            <a:off x="4343600" y="1060000"/>
            <a:ext cx="4571800" cy="340000"/>
          </a:xfrm>
          <a:prstGeom prst="rect">
            <a:avLst/>
          </a:prstGeom>
          <a:solidFill>
            <a:srgbClr val="EBF7EE"/>
          </a:solidFill>
          <a:ln w="12700">
            <a:solidFill>
              <a:srgbClr val="B7E4C7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1A7C3E"/>
                </a:solidFill>
              </a:rPr>
              <a:t>✅ Affordable Pricing</a:t>
            </a:r>
            <a:r>
              <a:rPr lang="en-US" sz="1000" dirty="0">
                <a:solidFill>
                  <a:srgbClr val="444444"/>
                </a:solidFill>
              </a:rPr>
              <a:t>  Lower costs than traditional tutoring and premium platforms.</a:t>
            </a:r>
          </a:p>
        </p:txBody>
      </p:sp>
      <p:sp>
        <p:nvSpPr>
          <p:cNvPr id="22" name="Adv2"/>
          <p:cNvSpPr/>
          <p:nvPr/>
        </p:nvSpPr>
        <p:spPr>
          <a:xfrm>
            <a:off x="4343600" y="1420000"/>
            <a:ext cx="4571800" cy="340000"/>
          </a:xfrm>
          <a:prstGeom prst="rect">
            <a:avLst/>
          </a:prstGeom>
          <a:solidFill>
            <a:srgbClr val="EBF7EE"/>
          </a:solidFill>
          <a:ln w="12700">
            <a:solidFill>
              <a:srgbClr val="B7E4C7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1A7C3E"/>
                </a:solidFill>
              </a:rPr>
              <a:t>✅ Peer-to-Peer Learning</a:t>
            </a:r>
            <a:r>
              <a:rPr lang="en-US" sz="1000" dirty="0">
                <a:solidFill>
                  <a:srgbClr val="444444"/>
                </a:solidFill>
              </a:rPr>
              <a:t>  Learn from successful peers who understand your challenges.</a:t>
            </a:r>
          </a:p>
        </p:txBody>
      </p:sp>
      <p:sp>
        <p:nvSpPr>
          <p:cNvPr id="23" name="Adv3"/>
          <p:cNvSpPr/>
          <p:nvPr/>
        </p:nvSpPr>
        <p:spPr>
          <a:xfrm>
            <a:off x="4343600" y="1780000"/>
            <a:ext cx="4571800" cy="340000"/>
          </a:xfrm>
          <a:prstGeom prst="rect">
            <a:avLst/>
          </a:prstGeom>
          <a:solidFill>
            <a:srgbClr val="EBF7EE"/>
          </a:solidFill>
          <a:ln w="12700">
            <a:solidFill>
              <a:srgbClr val="B7E4C7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1A7C3E"/>
                </a:solidFill>
              </a:rPr>
              <a:t>✅ Global Accessibility</a:t>
            </a:r>
            <a:r>
              <a:rPr lang="en-US" sz="1000" dirty="0">
                <a:solidFill>
                  <a:srgbClr val="444444"/>
                </a:solidFill>
              </a:rPr>
              <a:t>  Fully online platform available anytime, anywhere.</a:t>
            </a:r>
          </a:p>
        </p:txBody>
      </p:sp>
      <p:sp>
        <p:nvSpPr>
          <p:cNvPr id="24" name="Adv4"/>
          <p:cNvSpPr/>
          <p:nvPr/>
        </p:nvSpPr>
        <p:spPr>
          <a:xfrm>
            <a:off x="4343600" y="2140000"/>
            <a:ext cx="4571800" cy="340000"/>
          </a:xfrm>
          <a:prstGeom prst="rect">
            <a:avLst/>
          </a:prstGeom>
          <a:solidFill>
            <a:srgbClr val="EBF7EE"/>
          </a:solidFill>
          <a:ln w="12700">
            <a:solidFill>
              <a:srgbClr val="B7E4C7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1A7C3E"/>
                </a:solidFill>
              </a:rPr>
              <a:t>✅ Verified Student Experts</a:t>
            </a:r>
            <a:r>
              <a:rPr lang="en-US" sz="1000" dirty="0">
                <a:solidFill>
                  <a:srgbClr val="444444"/>
                </a:solidFill>
              </a:rPr>
              <a:t>  Tutors selected based on academic achievement and expertise.</a:t>
            </a:r>
          </a:p>
        </p:txBody>
      </p:sp>
      <p:sp>
        <p:nvSpPr>
          <p:cNvPr id="25" name="Adv5"/>
          <p:cNvSpPr/>
          <p:nvPr/>
        </p:nvSpPr>
        <p:spPr>
          <a:xfrm>
            <a:off x="4343600" y="2500000"/>
            <a:ext cx="4571800" cy="340000"/>
          </a:xfrm>
          <a:prstGeom prst="rect">
            <a:avLst/>
          </a:prstGeom>
          <a:solidFill>
            <a:srgbClr val="EBF7EE"/>
          </a:solidFill>
          <a:ln w="12700">
            <a:solidFill>
              <a:srgbClr val="B7E4C7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1A7C3E"/>
                </a:solidFill>
              </a:rPr>
              <a:t>✅ Community-Driven Approach</a:t>
            </a:r>
            <a:r>
              <a:rPr lang="en-US" sz="1000" dirty="0">
                <a:solidFill>
                  <a:srgbClr val="444444"/>
                </a:solidFill>
              </a:rPr>
              <a:t>  A supportive network where students help students succeed.</a:t>
            </a:r>
          </a:p>
        </p:txBody>
      </p:sp>
      <p:sp>
        <p:nvSpPr>
          <p:cNvPr id="30" name="TblHdr"/>
          <p:cNvSpPr/>
          <p:nvPr/>
        </p:nvSpPr>
        <p:spPr>
          <a:xfrm>
            <a:off x="228600" y="2870000"/>
            <a:ext cx="8686800" cy="280000"/>
          </a:xfrm>
          <a:prstGeom prst="rect">
            <a:avLst/>
          </a:prstGeom>
          <a:solidFill>
            <a:srgbClr val="0B5E9C"/>
          </a:solidFill>
          <a:ln>
            <a:noFill/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                                   Student2Student        Udemy                  Coursera               Private Tutors</a:t>
            </a:r>
          </a:p>
        </p:txBody>
      </p:sp>
      <p:sp>
        <p:nvSpPr>
          <p:cNvPr id="31" name="Row1"/>
          <p:cNvSpPr/>
          <p:nvPr/>
        </p:nvSpPr>
        <p:spPr>
          <a:xfrm>
            <a:off x="228600" y="3160000"/>
            <a:ext cx="8686800" cy="2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0"/>
            </a:solidFill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</a:rPr>
              <a:t>Affordable                                    ✅                                 ✅                         ❌                          ❌</a:t>
            </a:r>
          </a:p>
        </p:txBody>
      </p:sp>
      <p:sp>
        <p:nvSpPr>
          <p:cNvPr id="32" name="Row2"/>
          <p:cNvSpPr/>
          <p:nvPr/>
        </p:nvSpPr>
        <p:spPr>
          <a:xfrm>
            <a:off x="228600" y="3400000"/>
            <a:ext cx="8686800" cy="230000"/>
          </a:xfrm>
          <a:prstGeom prst="rect">
            <a:avLst/>
          </a:prstGeom>
          <a:solidFill>
            <a:srgbClr val="F0F6FF"/>
          </a:solidFill>
          <a:ln w="9525">
            <a:solidFill>
              <a:srgbClr val="E0E8F0"/>
            </a:solidFill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</a:rPr>
              <a:t>Personalized Support                   ✅                              ❌                        </a:t>
            </a:r>
            <a:r>
              <a:rPr lang="en-US" sz="1000">
                <a:solidFill>
                  <a:srgbClr val="333333"/>
                </a:solidFill>
              </a:rPr>
              <a:t>❌                            </a:t>
            </a:r>
            <a:r>
              <a:rPr lang="en-US" sz="1000" dirty="0">
                <a:solidFill>
                  <a:srgbClr val="333333"/>
                </a:solidFill>
              </a:rPr>
              <a:t>✅</a:t>
            </a:r>
          </a:p>
        </p:txBody>
      </p:sp>
      <p:sp>
        <p:nvSpPr>
          <p:cNvPr id="33" name="Row3"/>
          <p:cNvSpPr/>
          <p:nvPr/>
        </p:nvSpPr>
        <p:spPr>
          <a:xfrm>
            <a:off x="228600" y="3640000"/>
            <a:ext cx="8686800" cy="2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0"/>
            </a:solidFill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</a:rPr>
              <a:t>Peer-to-Peer Learning                   ✅                             ❌                        ❌                            ❌</a:t>
            </a:r>
          </a:p>
        </p:txBody>
      </p:sp>
      <p:sp>
        <p:nvSpPr>
          <p:cNvPr id="34" name="Row4"/>
          <p:cNvSpPr/>
          <p:nvPr/>
        </p:nvSpPr>
        <p:spPr>
          <a:xfrm>
            <a:off x="228600" y="3880000"/>
            <a:ext cx="8686800" cy="230000"/>
          </a:xfrm>
          <a:prstGeom prst="rect">
            <a:avLst/>
          </a:prstGeom>
          <a:solidFill>
            <a:srgbClr val="F0F6FF"/>
          </a:solidFill>
          <a:ln w="9525">
            <a:solidFill>
              <a:srgbClr val="E0E8F0"/>
            </a:solidFill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</a:rPr>
              <a:t>Global Access                                  ✅                              ✅                       ✅                            ❌</a:t>
            </a:r>
          </a:p>
        </p:txBody>
      </p:sp>
      <p:sp>
        <p:nvSpPr>
          <p:cNvPr id="35" name="Row5"/>
          <p:cNvSpPr/>
          <p:nvPr/>
        </p:nvSpPr>
        <p:spPr>
          <a:xfrm>
            <a:off x="228600" y="4120000"/>
            <a:ext cx="8686800" cy="2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F0"/>
            </a:solidFill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</a:rPr>
              <a:t>Community Focus                            ✅                           ❌                          ❌                          ❌</a:t>
            </a:r>
          </a:p>
        </p:txBody>
      </p:sp>
      <p:sp>
        <p:nvSpPr>
          <p:cNvPr id="40" name="HighlightBox"/>
          <p:cNvSpPr/>
          <p:nvPr/>
        </p:nvSpPr>
        <p:spPr>
          <a:xfrm>
            <a:off x="228600" y="4430000"/>
            <a:ext cx="8686800" cy="340000"/>
          </a:xfrm>
          <a:prstGeom prst="rect">
            <a:avLst/>
          </a:prstGeom>
          <a:solidFill>
            <a:srgbClr val="0B3D6E"/>
          </a:solidFill>
          <a:ln>
            <a:noFill/>
          </a:ln>
        </p:spPr>
        <p:txBody>
          <a:bodyPr wrap="square" lIns="137160" tIns="45720" rIns="13716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★  </a:t>
            </a:r>
            <a:r>
              <a:rPr lang="en-US" sz="1100" dirty="0">
                <a:solidFill>
                  <a:srgbClr val="FFFFFF"/>
                </a:solidFill>
              </a:rPr>
              <a:t>Student2Student combines affordability, accessibility, and peer-powered learning to create a unique educational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4" name="SlideTitle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GOALS &amp; OBJECTIVES</a:t>
            </a:r>
          </a:p>
        </p:txBody>
      </p:sp>
      <p:sp>
        <p:nvSpPr>
          <p:cNvPr id="5" name="SlideNum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BDD9F2"/>
                </a:solidFill>
                <a:latin typeface="Calibri" pitchFamily="34" charset="0"/>
              </a:rPr>
              <a:t>07</a:t>
            </a:r>
          </a:p>
        </p:txBody>
      </p:sp>
      <p:sp>
        <p:nvSpPr>
          <p:cNvPr id="10" name="LeftCard"/>
          <p:cNvSpPr/>
          <p:nvPr/>
        </p:nvSpPr>
        <p:spPr>
          <a:xfrm>
            <a:off x="164592" y="731520"/>
            <a:ext cx="4206240" cy="320040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1" name="LeftHeader"/>
          <p:cNvSpPr/>
          <p:nvPr/>
        </p:nvSpPr>
        <p:spPr>
          <a:xfrm>
            <a:off x="164592" y="731520"/>
            <a:ext cx="4206240" cy="45720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12" name="LeftHeaderText"/>
          <p:cNvSpPr/>
          <p:nvPr/>
        </p:nvSpPr>
        <p:spPr>
          <a:xfrm>
            <a:off x="274320" y="731520"/>
            <a:ext cx="400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5-Year Goals</a:t>
            </a:r>
          </a:p>
        </p:txBody>
      </p:sp>
      <p:sp>
        <p:nvSpPr>
          <p:cNvPr id="13" name="LeftContent"/>
          <p:cNvSpPr/>
          <p:nvPr/>
        </p:nvSpPr>
        <p:spPr>
          <a:xfrm>
            <a:off x="274320" y="1243440"/>
            <a:ext cx="4006560" cy="2597760"/>
          </a:xfrm>
          <a:prstGeom prst="rect">
            <a:avLst/>
          </a:prstGeom>
          <a:noFill/>
          <a:ln/>
        </p:spPr>
        <p:txBody>
          <a:bodyPr wrap="square" lIns="0" tIns="91440" rIns="91440" bIns="0" rtlCol="0" anchor="t"/>
          <a:lstStyle/>
          <a:p>
            <a:pPr marL="228600" indent="-228600" algn="l">
              <a:buNone/>
            </a:pPr>
            <a:r>
              <a:rPr lang="en-US" sz="1600" dirty="0">
                <a:solidFill>
                  <a:srgbClr val="0B5E9C"/>
                </a:solidFill>
                <a:latin typeface="Calibri" pitchFamily="34" charset="0"/>
              </a:rPr>
              <a:t>🎯 </a:t>
            </a:r>
            <a:r>
              <a:rPr lang="en-US" sz="1000" dirty="0">
                <a:solidFill>
                  <a:srgbClr val="2D4A62"/>
                </a:solidFill>
                <a:latin typeface="Calibri" pitchFamily="34" charset="0"/>
              </a:rPr>
              <a:t>Become a leading global student-to-student learning platform</a:t>
            </a:r>
          </a:p>
          <a:p>
            <a:pPr marL="228600" indent="-228600" algn="l">
              <a:buNone/>
            </a:pPr>
            <a:r>
              <a:rPr lang="en-US" sz="1600" dirty="0">
                <a:solidFill>
                  <a:srgbClr val="0B5E9C"/>
                </a:solidFill>
                <a:latin typeface="Calibri" pitchFamily="34" charset="0"/>
              </a:rPr>
              <a:t>🎯 </a:t>
            </a:r>
            <a:r>
              <a:rPr lang="en-US" sz="1000" dirty="0">
                <a:solidFill>
                  <a:srgbClr val="2D4A62"/>
                </a:solidFill>
                <a:latin typeface="Calibri" pitchFamily="34" charset="0"/>
              </a:rPr>
              <a:t>Reach students in 50+ countries worldwide</a:t>
            </a:r>
          </a:p>
          <a:p>
            <a:pPr marL="228600" indent="-228600" algn="l">
              <a:buNone/>
            </a:pPr>
            <a:r>
              <a:rPr lang="en-US" sz="1600" dirty="0">
                <a:solidFill>
                  <a:srgbClr val="0B5E9C"/>
                </a:solidFill>
                <a:latin typeface="Calibri" pitchFamily="34" charset="0"/>
              </a:rPr>
              <a:t>🎯 </a:t>
            </a:r>
            <a:r>
              <a:rPr lang="en-US" sz="1000" dirty="0">
                <a:solidFill>
                  <a:srgbClr val="2D4A62"/>
                </a:solidFill>
                <a:latin typeface="Calibri" pitchFamily="34" charset="0"/>
              </a:rPr>
              <a:t>Build a community of 10,000+ active tutors and learners</a:t>
            </a:r>
          </a:p>
          <a:p>
            <a:pPr marL="228600" indent="-228600" algn="l">
              <a:buNone/>
            </a:pPr>
            <a:r>
              <a:rPr lang="en-US" sz="1600" dirty="0">
                <a:solidFill>
                  <a:srgbClr val="0B5E9C"/>
                </a:solidFill>
                <a:latin typeface="Calibri" pitchFamily="34" charset="0"/>
              </a:rPr>
              <a:t>🎯 </a:t>
            </a:r>
            <a:r>
              <a:rPr lang="en-US" sz="1000" dirty="0">
                <a:solidFill>
                  <a:srgbClr val="2D4A62"/>
                </a:solidFill>
                <a:latin typeface="Calibri" pitchFamily="34" charset="0"/>
              </a:rPr>
              <a:t>Offer courses across major academic subjects and skills</a:t>
            </a:r>
          </a:p>
          <a:p>
            <a:pPr marL="228600" indent="-228600" algn="l">
              <a:buNone/>
            </a:pPr>
            <a:r>
              <a:rPr lang="en-US" sz="1600" dirty="0">
                <a:solidFill>
                  <a:srgbClr val="0B5E9C"/>
                </a:solidFill>
                <a:latin typeface="Calibri" pitchFamily="34" charset="0"/>
              </a:rPr>
              <a:t>🎯 </a:t>
            </a:r>
            <a:r>
              <a:rPr lang="en-US" sz="1000" dirty="0">
                <a:solidFill>
                  <a:srgbClr val="2D4A62"/>
                </a:solidFill>
                <a:latin typeface="Calibri" pitchFamily="34" charset="0"/>
              </a:rPr>
              <a:t>Establish Student2Student as a trusted EdTech brand</a:t>
            </a:r>
          </a:p>
        </p:txBody>
      </p:sp>
      <p:sp>
        <p:nvSpPr>
          <p:cNvPr id="20" name="RightCard"/>
          <p:cNvSpPr/>
          <p:nvPr/>
        </p:nvSpPr>
        <p:spPr>
          <a:xfrm>
            <a:off x="4663440" y="731520"/>
            <a:ext cx="4315440" cy="320040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RightHeader"/>
          <p:cNvSpPr/>
          <p:nvPr/>
        </p:nvSpPr>
        <p:spPr>
          <a:xfrm>
            <a:off x="4663440" y="731520"/>
            <a:ext cx="4315440" cy="457200"/>
          </a:xfrm>
          <a:prstGeom prst="rect">
            <a:avLst/>
          </a:prstGeom>
          <a:solidFill>
            <a:srgbClr val="084A7A"/>
          </a:solidFill>
          <a:ln w="12700">
            <a:solidFill>
              <a:srgbClr val="084A7A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22" name="RightHeaderText"/>
          <p:cNvSpPr/>
          <p:nvPr/>
        </p:nvSpPr>
        <p:spPr>
          <a:xfrm>
            <a:off x="4773168" y="731520"/>
            <a:ext cx="409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Key Objectives</a:t>
            </a:r>
          </a:p>
        </p:txBody>
      </p:sp>
      <p:sp>
        <p:nvSpPr>
          <p:cNvPr id="23" name="RightContent"/>
          <p:cNvSpPr/>
          <p:nvPr/>
        </p:nvSpPr>
        <p:spPr>
          <a:xfrm>
            <a:off x="4773168" y="1243440"/>
            <a:ext cx="4095720" cy="2597760"/>
          </a:xfrm>
          <a:prstGeom prst="rect">
            <a:avLst/>
          </a:prstGeom>
          <a:noFill/>
          <a:ln/>
        </p:spPr>
        <p:txBody>
          <a:bodyPr wrap="square" lIns="0" tIns="91440" rIns="9144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📈 User Growth</a:t>
            </a:r>
          </a:p>
          <a:p>
            <a:pPr marL="228600" indent="-137160" algn="l">
              <a:buNone/>
            </a:pPr>
            <a:r>
              <a:rPr lang="en-US" sz="820" b="1" dirty="0">
                <a:solidFill>
                  <a:srgbClr val="BDD9F2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5,000 registered users in Year 1</a:t>
            </a:r>
          </a:p>
          <a:p>
            <a:pPr marL="228600" indent="-137160" algn="l">
              <a:buNone/>
            </a:pPr>
            <a:r>
              <a:rPr lang="en-US" sz="820" b="1" dirty="0">
                <a:solidFill>
                  <a:srgbClr val="BDD9F2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25,000 users by Year 3</a:t>
            </a:r>
          </a:p>
          <a:p>
            <a:pPr marL="228600" indent="-137160" algn="l">
              <a:buNone/>
            </a:pPr>
            <a:r>
              <a:rPr lang="en-US" sz="820" b="1" dirty="0">
                <a:solidFill>
                  <a:srgbClr val="BDD9F2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100,000+ users by Year 5</a:t>
            </a:r>
          </a:p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📚 Course Expansion</a:t>
            </a:r>
          </a:p>
          <a:p>
            <a:pPr marL="228600" indent="-137160" algn="l">
              <a:buNone/>
            </a:pPr>
            <a:r>
              <a:rPr lang="en-US" sz="820" b="1" dirty="0">
                <a:solidFill>
                  <a:srgbClr val="BDD9F2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Launch 50+ courses in the first year</a:t>
            </a:r>
          </a:p>
          <a:p>
            <a:pPr marL="228600" indent="-137160" algn="l">
              <a:buNone/>
            </a:pPr>
            <a:r>
              <a:rPr lang="en-US" sz="820" b="1" dirty="0">
                <a:solidFill>
                  <a:srgbClr val="BDD9F2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Expand to 500+ courses within five years</a:t>
            </a:r>
          </a:p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🌍 Market Reach</a:t>
            </a:r>
          </a:p>
          <a:p>
            <a:pPr marL="228600" indent="-137160" algn="l">
              <a:buNone/>
            </a:pPr>
            <a:r>
              <a:rPr lang="en-US" sz="820" b="1" dirty="0">
                <a:solidFill>
                  <a:srgbClr val="BDD9F2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Partner with universities and student organizations</a:t>
            </a:r>
          </a:p>
          <a:p>
            <a:pPr marL="228600" indent="-137160" algn="l">
              <a:buNone/>
            </a:pPr>
            <a:r>
              <a:rPr lang="en-US" sz="820" b="1" dirty="0">
                <a:solidFill>
                  <a:srgbClr val="BDD9F2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Expand across Europe, Asia, and North America</a:t>
            </a:r>
          </a:p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</a:rPr>
              <a:t>💰 Revenue Targets</a:t>
            </a:r>
          </a:p>
          <a:p>
            <a:pPr marL="228600" indent="-137160" algn="l">
              <a:buNone/>
            </a:pPr>
            <a:r>
              <a:rPr lang="en-US" sz="820" b="1" dirty="0">
                <a:solidFill>
                  <a:srgbClr val="BDD9F2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Achieve profitability within 3 years</a:t>
            </a:r>
          </a:p>
          <a:p>
            <a:pPr marL="228600" indent="-137160" algn="l">
              <a:buNone/>
            </a:pPr>
            <a:r>
              <a:rPr lang="en-US" sz="820" b="1" dirty="0">
                <a:solidFill>
                  <a:srgbClr val="BDD9F2"/>
                </a:solidFill>
                <a:latin typeface="Calibri" pitchFamily="34" charset="0"/>
              </a:rPr>
              <a:t>• </a:t>
            </a:r>
            <a:r>
              <a:rPr lang="en-US" sz="820" dirty="0">
                <a:solidFill>
                  <a:srgbClr val="BDD9F2"/>
                </a:solidFill>
                <a:latin typeface="Calibri" pitchFamily="34" charset="0"/>
              </a:rPr>
              <a:t>Reach €500,000 annual revenue by Year 5</a:t>
            </a:r>
          </a:p>
        </p:txBody>
      </p:sp>
      <p:sp>
        <p:nvSpPr>
          <p:cNvPr id="30" name="HighlightBg"/>
          <p:cNvSpPr/>
          <p:nvPr/>
        </p:nvSpPr>
        <p:spPr>
          <a:xfrm>
            <a:off x="164592" y="4012920"/>
            <a:ext cx="8814816" cy="975960"/>
          </a:xfrm>
          <a:prstGeom prst="rect">
            <a:avLst/>
          </a:prstGeom>
          <a:solidFill>
            <a:srgbClr val="3D2785"/>
          </a:solidFill>
          <a:ln w="12700">
            <a:solidFill>
              <a:srgbClr val="3D2785"/>
            </a:solidFill>
          </a:ln>
          <a:effectLst>
            <a:outerShdw blurRad="152400" dist="50800" dir="5400000" algn="ctr" rotWithShape="0">
              <a:srgbClr val="3D2785">
                <a:alpha val="4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1" name="HighlightAccent"/>
          <p:cNvSpPr/>
          <p:nvPr/>
        </p:nvSpPr>
        <p:spPr>
          <a:xfrm>
            <a:off x="164592" y="4012920"/>
            <a:ext cx="164592" cy="97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32" name="StarCircle"/>
          <p:cNvSpPr/>
          <p:nvPr/>
        </p:nvSpPr>
        <p:spPr>
          <a:xfrm>
            <a:off x="420624" y="4103640"/>
            <a:ext cx="548640" cy="548640"/>
          </a:xfrm>
          <a:prstGeom prst="ellipse">
            <a:avLst/>
          </a:prstGeom>
          <a:solidFill>
            <a:srgbClr val="F5A623">
              <a:alpha val="30000"/>
            </a:srgbClr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33" name="StarIcon"/>
          <p:cNvSpPr/>
          <p:nvPr/>
        </p:nvSpPr>
        <p:spPr>
          <a:xfrm>
            <a:off x="420624" y="4103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</a:rPr>
              <a:t>★</a:t>
            </a:r>
          </a:p>
        </p:txBody>
      </p:sp>
      <p:sp>
        <p:nvSpPr>
          <p:cNvPr id="34" name="HighlightText"/>
          <p:cNvSpPr/>
          <p:nvPr/>
        </p:nvSpPr>
        <p:spPr>
          <a:xfrm>
            <a:off x="1060704" y="4012920"/>
            <a:ext cx="7827120" cy="975960"/>
          </a:xfrm>
          <a:prstGeom prst="rect">
            <a:avLst/>
          </a:prstGeom>
          <a:noFill/>
          <a:ln/>
        </p:spPr>
        <p:txBody>
          <a:bodyPr wrap="square" lIns="0" tIns="0" rIns="9144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</a:rPr>
              <a:t>Our objective is to create an affordable global learning ecosystem where students teach, learn, and succeed together.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4" name="SlideTitle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FINANCIAL PLAN</a:t>
            </a:r>
          </a:p>
        </p:txBody>
      </p:sp>
      <p:sp>
        <p:nvSpPr>
          <p:cNvPr id="5" name="SlideNum"/>
          <p:cNvSpPr/>
          <p:nvPr/>
        </p:nvSpPr>
        <p:spPr>
          <a:xfrm>
            <a:off x="8419200" y="9144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10" name="ModelHeader"/>
          <p:cNvSpPr/>
          <p:nvPr/>
        </p:nvSpPr>
        <p:spPr>
          <a:xfrm>
            <a:off x="228600" y="730000"/>
            <a:ext cx="3900000" cy="280000"/>
          </a:xfrm>
          <a:prstGeom prst="rect">
            <a:avLst/>
          </a:prstGeom>
          <a:solidFill>
            <a:srgbClr val="0B5E9C"/>
          </a:solidFill>
          <a:ln>
            <a:noFill/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Financial Model</a:t>
            </a:r>
          </a:p>
        </p:txBody>
      </p:sp>
      <p:sp>
        <p:nvSpPr>
          <p:cNvPr id="11" name="Rev1"/>
          <p:cNvSpPr/>
          <p:nvPr/>
        </p:nvSpPr>
        <p:spPr>
          <a:xfrm>
            <a:off x="228600" y="1030000"/>
            <a:ext cx="39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F7"/>
            </a:solidFill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0B5E9C"/>
                </a:solidFill>
              </a:rPr>
              <a:t>💻 Course Sales</a:t>
            </a:r>
          </a:p>
          <a:p>
            <a:pPr algn="l">
              <a:buNone/>
            </a:pPr>
            <a:r>
              <a:rPr lang="en-US" sz="900" dirty="0">
                <a:solidFill>
                  <a:srgbClr val="555555"/>
                </a:solidFill>
              </a:rPr>
              <a:t>Students purchase online courses created by verified student tutors.</a:t>
            </a:r>
          </a:p>
        </p:txBody>
      </p:sp>
      <p:sp>
        <p:nvSpPr>
          <p:cNvPr id="12" name="Rev2"/>
          <p:cNvSpPr/>
          <p:nvPr/>
        </p:nvSpPr>
        <p:spPr>
          <a:xfrm>
            <a:off x="228600" y="1410000"/>
            <a:ext cx="3900000" cy="360000"/>
          </a:xfrm>
          <a:prstGeom prst="rect">
            <a:avLst/>
          </a:prstGeom>
          <a:solidFill>
            <a:srgbClr val="F0F6FF"/>
          </a:solidFill>
          <a:ln w="9525">
            <a:solidFill>
              <a:srgbClr val="D0E4F7"/>
            </a:solidFill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0B5E9C"/>
                </a:solidFill>
              </a:rPr>
              <a:t>👨‍🏫 Tutoring Sessions</a:t>
            </a:r>
          </a:p>
          <a:p>
            <a:pPr algn="l">
              <a:buNone/>
            </a:pPr>
            <a:r>
              <a:rPr lang="en-US" sz="900" dirty="0">
                <a:solidFill>
                  <a:srgbClr val="555555"/>
                </a:solidFill>
              </a:rPr>
              <a:t>Revenue from one-to-one tutoring sessions booked through the platform.</a:t>
            </a:r>
          </a:p>
        </p:txBody>
      </p:sp>
      <p:sp>
        <p:nvSpPr>
          <p:cNvPr id="13" name="Rev3"/>
          <p:cNvSpPr/>
          <p:nvPr/>
        </p:nvSpPr>
        <p:spPr>
          <a:xfrm>
            <a:off x="228600" y="1790000"/>
            <a:ext cx="390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F7"/>
            </a:solidFill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0B5E9C"/>
                </a:solidFill>
              </a:rPr>
              <a:t>📋 Premium Membership</a:t>
            </a:r>
          </a:p>
          <a:p>
            <a:pPr algn="l">
              <a:buNone/>
            </a:pPr>
            <a:r>
              <a:rPr lang="en-US" sz="900" dirty="0">
                <a:solidFill>
                  <a:srgbClr val="555555"/>
                </a:solidFill>
              </a:rPr>
              <a:t>Monthly subscription with exclusive resources and learning benefits.</a:t>
            </a:r>
          </a:p>
        </p:txBody>
      </p:sp>
      <p:sp>
        <p:nvSpPr>
          <p:cNvPr id="14" name="Rev4"/>
          <p:cNvSpPr/>
          <p:nvPr/>
        </p:nvSpPr>
        <p:spPr>
          <a:xfrm>
            <a:off x="228600" y="2170000"/>
            <a:ext cx="3900000" cy="360000"/>
          </a:xfrm>
          <a:prstGeom prst="rect">
            <a:avLst/>
          </a:prstGeom>
          <a:solidFill>
            <a:srgbClr val="F0F6FF"/>
          </a:solidFill>
          <a:ln w="9525">
            <a:solidFill>
              <a:srgbClr val="D0E4F7"/>
            </a:solidFill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0B5E9C"/>
                </a:solidFill>
              </a:rPr>
              <a:t>🤝 Partnerships &amp; Sponsorships</a:t>
            </a:r>
          </a:p>
          <a:p>
            <a:pPr algn="l">
              <a:buNone/>
            </a:pPr>
            <a:r>
              <a:rPr lang="en-US" sz="900" dirty="0">
                <a:solidFill>
                  <a:srgbClr val="555555"/>
                </a:solidFill>
              </a:rPr>
              <a:t>Collaboration with universities, student organizations, and educational partners.</a:t>
            </a:r>
          </a:p>
        </p:txBody>
      </p:sp>
      <p:sp>
        <p:nvSpPr>
          <p:cNvPr id="15" name="PricingHdr"/>
          <p:cNvSpPr/>
          <p:nvPr/>
        </p:nvSpPr>
        <p:spPr>
          <a:xfrm>
            <a:off x="228600" y="2570000"/>
            <a:ext cx="3900000" cy="2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Pricing Assumptions</a:t>
            </a:r>
          </a:p>
        </p:txBody>
      </p:sp>
      <p:sp>
        <p:nvSpPr>
          <p:cNvPr id="16" name="PricingBody"/>
          <p:cNvSpPr/>
          <p:nvPr/>
        </p:nvSpPr>
        <p:spPr>
          <a:xfrm>
            <a:off x="228600" y="2839999"/>
            <a:ext cx="3900000" cy="809785"/>
          </a:xfrm>
          <a:prstGeom prst="rect">
            <a:avLst/>
          </a:prstGeom>
          <a:solidFill>
            <a:srgbClr val="FFF8EC"/>
          </a:solidFill>
          <a:ln w="9525">
            <a:solidFill>
              <a:srgbClr val="F5D08A"/>
            </a:solidFill>
          </a:ln>
        </p:spPr>
        <p:txBody>
          <a:bodyPr wrap="square" lIns="91440" tIns="54000" rIns="91440" bIns="54000" rtlCol="0" anchor="t"/>
          <a:lstStyle/>
          <a:p>
            <a:pPr algn="l">
              <a:buNone/>
            </a:pPr>
            <a:r>
              <a:rPr lang="en-US" sz="950" dirty="0">
                <a:solidFill>
                  <a:srgbClr val="333333"/>
                </a:solidFill>
              </a:rPr>
              <a:t>• Average course price: €20</a:t>
            </a:r>
          </a:p>
          <a:p>
            <a:pPr algn="l">
              <a:buNone/>
            </a:pPr>
            <a:r>
              <a:rPr lang="en-US" sz="950" dirty="0">
                <a:solidFill>
                  <a:srgbClr val="333333"/>
                </a:solidFill>
              </a:rPr>
              <a:t>• Average tutoring session: €15/hour</a:t>
            </a:r>
          </a:p>
          <a:p>
            <a:pPr algn="l">
              <a:buNone/>
            </a:pPr>
            <a:r>
              <a:rPr lang="en-US" sz="950" dirty="0">
                <a:solidFill>
                  <a:srgbClr val="333333"/>
                </a:solidFill>
              </a:rPr>
              <a:t>• Premium membership: €5/month</a:t>
            </a:r>
          </a:p>
          <a:p>
            <a:pPr algn="l">
              <a:buNone/>
            </a:pPr>
            <a:r>
              <a:rPr lang="en-US" sz="950" dirty="0">
                <a:solidFill>
                  <a:srgbClr val="333333"/>
                </a:solidFill>
              </a:rPr>
              <a:t>• Platform commission: 20% of tutor earnings</a:t>
            </a:r>
          </a:p>
          <a:p>
            <a:pPr algn="l">
              <a:buNone/>
            </a:pPr>
            <a:r>
              <a:rPr lang="en-US" sz="950" dirty="0">
                <a:solidFill>
                  <a:srgbClr val="333333"/>
                </a:solidFill>
              </a:rPr>
              <a:t>• Low operational costs — fully online business model</a:t>
            </a:r>
          </a:p>
        </p:txBody>
      </p:sp>
      <p:sp>
        <p:nvSpPr>
          <p:cNvPr id="20" name="TblHdr"/>
          <p:cNvSpPr/>
          <p:nvPr/>
        </p:nvSpPr>
        <p:spPr>
          <a:xfrm>
            <a:off x="4343600" y="730000"/>
            <a:ext cx="4571800" cy="280000"/>
          </a:xfrm>
          <a:prstGeom prst="rect">
            <a:avLst/>
          </a:prstGeom>
          <a:solidFill>
            <a:srgbClr val="0B5E9C"/>
          </a:solidFill>
          <a:ln>
            <a:noFill/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Expected Annual Sales &amp; Profits</a:t>
            </a:r>
          </a:p>
        </p:txBody>
      </p:sp>
      <p:sp>
        <p:nvSpPr>
          <p:cNvPr id="21" name="ColHdr"/>
          <p:cNvSpPr/>
          <p:nvPr/>
        </p:nvSpPr>
        <p:spPr>
          <a:xfrm>
            <a:off x="4343600" y="1020000"/>
            <a:ext cx="4571800" cy="230000"/>
          </a:xfrm>
          <a:prstGeom prst="rect">
            <a:avLst/>
          </a:prstGeom>
          <a:solidFill>
            <a:srgbClr val="1A4E7C"/>
          </a:solidFill>
          <a:ln>
            <a:noFill/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                Sales Revenue              Profit</a:t>
            </a:r>
          </a:p>
        </p:txBody>
      </p:sp>
      <p:sp>
        <p:nvSpPr>
          <p:cNvPr id="22" name="RowY1"/>
          <p:cNvSpPr/>
          <p:nvPr/>
        </p:nvSpPr>
        <p:spPr>
          <a:xfrm>
            <a:off x="4343600" y="1260000"/>
            <a:ext cx="4571800" cy="2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F7"/>
            </a:solidFill>
          </a:ln>
        </p:spPr>
        <p:txBody>
          <a:bodyPr wrap="square" lIns="91440" tIns="27000" rIns="91440" bIns="2700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</a:rPr>
              <a:t>Year 1              €25,000                     </a:t>
            </a:r>
            <a:r>
              <a:rPr lang="en-US" sz="1000" b="1" dirty="0">
                <a:solidFill>
                  <a:srgbClr val="C0392B"/>
                </a:solidFill>
              </a:rPr>
              <a:t>-€5,000</a:t>
            </a:r>
          </a:p>
        </p:txBody>
      </p:sp>
      <p:sp>
        <p:nvSpPr>
          <p:cNvPr id="23" name="RowY2"/>
          <p:cNvSpPr/>
          <p:nvPr/>
        </p:nvSpPr>
        <p:spPr>
          <a:xfrm>
            <a:off x="4343600" y="1480000"/>
            <a:ext cx="4571800" cy="210000"/>
          </a:xfrm>
          <a:prstGeom prst="rect">
            <a:avLst/>
          </a:prstGeom>
          <a:solidFill>
            <a:srgbClr val="F0F6FF"/>
          </a:solidFill>
          <a:ln w="9525">
            <a:solidFill>
              <a:srgbClr val="D0E4F7"/>
            </a:solidFill>
          </a:ln>
        </p:spPr>
        <p:txBody>
          <a:bodyPr wrap="square" lIns="91440" tIns="27000" rIns="91440" bIns="2700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</a:rPr>
              <a:t>Year 2              €80,000                     </a:t>
            </a:r>
            <a:r>
              <a:rPr lang="en-US" sz="1000" b="1" dirty="0">
                <a:solidFill>
                  <a:srgbClr val="1A7C3E"/>
                </a:solidFill>
              </a:rPr>
              <a:t>€10,000</a:t>
            </a:r>
          </a:p>
        </p:txBody>
      </p:sp>
      <p:sp>
        <p:nvSpPr>
          <p:cNvPr id="24" name="RowY3"/>
          <p:cNvSpPr/>
          <p:nvPr/>
        </p:nvSpPr>
        <p:spPr>
          <a:xfrm>
            <a:off x="4343600" y="1700000"/>
            <a:ext cx="4571800" cy="2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F7"/>
            </a:solidFill>
          </a:ln>
        </p:spPr>
        <p:txBody>
          <a:bodyPr wrap="square" lIns="91440" tIns="27000" rIns="91440" bIns="2700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</a:rPr>
              <a:t>Year 3              €180,000                   </a:t>
            </a:r>
            <a:r>
              <a:rPr lang="en-US" sz="1000" b="1" dirty="0">
                <a:solidFill>
                  <a:srgbClr val="1A7C3E"/>
                </a:solidFill>
              </a:rPr>
              <a:t>€45,000</a:t>
            </a:r>
          </a:p>
        </p:txBody>
      </p:sp>
      <p:sp>
        <p:nvSpPr>
          <p:cNvPr id="25" name="RowY4"/>
          <p:cNvSpPr/>
          <p:nvPr/>
        </p:nvSpPr>
        <p:spPr>
          <a:xfrm>
            <a:off x="4343600" y="1920000"/>
            <a:ext cx="4571800" cy="210000"/>
          </a:xfrm>
          <a:prstGeom prst="rect">
            <a:avLst/>
          </a:prstGeom>
          <a:solidFill>
            <a:srgbClr val="F0F6FF"/>
          </a:solidFill>
          <a:ln w="9525">
            <a:solidFill>
              <a:srgbClr val="D0E4F7"/>
            </a:solidFill>
          </a:ln>
        </p:spPr>
        <p:txBody>
          <a:bodyPr wrap="square" lIns="91440" tIns="27000" rIns="91440" bIns="2700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</a:rPr>
              <a:t>Year 4              €350,000                   </a:t>
            </a:r>
            <a:r>
              <a:rPr lang="en-US" sz="1000" b="1" dirty="0">
                <a:solidFill>
                  <a:srgbClr val="1A7C3E"/>
                </a:solidFill>
              </a:rPr>
              <a:t>€110,000</a:t>
            </a:r>
          </a:p>
        </p:txBody>
      </p:sp>
      <p:sp>
        <p:nvSpPr>
          <p:cNvPr id="26" name="RowY5"/>
          <p:cNvSpPr/>
          <p:nvPr/>
        </p:nvSpPr>
        <p:spPr>
          <a:xfrm>
            <a:off x="4343600" y="2140000"/>
            <a:ext cx="4571800" cy="210000"/>
          </a:xfrm>
          <a:prstGeom prst="rect">
            <a:avLst/>
          </a:prstGeom>
          <a:solidFill>
            <a:srgbClr val="EBF7EE"/>
          </a:solidFill>
          <a:ln w="9525">
            <a:solidFill>
              <a:srgbClr val="B7E4C7"/>
            </a:solidFill>
          </a:ln>
        </p:spPr>
        <p:txBody>
          <a:bodyPr wrap="square" lIns="91440" tIns="27000" rIns="91440" bIns="2700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1A7C3E"/>
                </a:solidFill>
              </a:rPr>
              <a:t>Year 5              €600,000                   €220,000</a:t>
            </a:r>
          </a:p>
        </p:txBody>
      </p:sp>
      <p:sp>
        <p:nvSpPr>
          <p:cNvPr id="30" name="ChartBG"/>
          <p:cNvSpPr/>
          <p:nvPr/>
        </p:nvSpPr>
        <p:spPr>
          <a:xfrm>
            <a:off x="4343600" y="2400000"/>
            <a:ext cx="4571800" cy="11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F7"/>
            </a:solidFill>
          </a:ln>
        </p:spPr>
        <p:txBody>
          <a:bodyPr/>
          <a:lstStyle/>
          <a:p>
            <a:endParaRPr lang="en-TR"/>
          </a:p>
        </p:txBody>
      </p:sp>
      <p:sp>
        <p:nvSpPr>
          <p:cNvPr id="31" name="ChartTitle"/>
          <p:cNvSpPr/>
          <p:nvPr/>
        </p:nvSpPr>
        <p:spPr>
          <a:xfrm>
            <a:off x="4343600" y="2410000"/>
            <a:ext cx="4571800" cy="200000"/>
          </a:xfrm>
          <a:prstGeom prst="rect">
            <a:avLst/>
          </a:prstGeom>
          <a:noFill/>
          <a:ln/>
        </p:spPr>
        <p:txBody>
          <a:bodyPr wrap="square" lIns="91440" tIns="18000" rIns="91440" bIns="1800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0B5E9C"/>
                </a:solidFill>
              </a:rPr>
              <a:t>Revenue Growth (€)</a:t>
            </a:r>
          </a:p>
        </p:txBody>
      </p:sp>
      <p:sp>
        <p:nvSpPr>
          <p:cNvPr id="40" name="BarY1"/>
          <p:cNvSpPr/>
          <p:nvPr/>
        </p:nvSpPr>
        <p:spPr>
          <a:xfrm>
            <a:off x="4470000" y="3341000"/>
            <a:ext cx="580000" cy="29000"/>
          </a:xfrm>
          <a:prstGeom prst="rect">
            <a:avLst/>
          </a:prstGeom>
          <a:solidFill>
            <a:srgbClr val="0B5E9C"/>
          </a:solidFill>
          <a:ln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1" name="BarY2"/>
          <p:cNvSpPr/>
          <p:nvPr/>
        </p:nvSpPr>
        <p:spPr>
          <a:xfrm>
            <a:off x="5122000" y="3277000"/>
            <a:ext cx="580000" cy="93000"/>
          </a:xfrm>
          <a:prstGeom prst="rect">
            <a:avLst/>
          </a:prstGeom>
          <a:solidFill>
            <a:srgbClr val="0B5E9C"/>
          </a:solidFill>
          <a:ln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2" name="BarY3"/>
          <p:cNvSpPr/>
          <p:nvPr/>
        </p:nvSpPr>
        <p:spPr>
          <a:xfrm>
            <a:off x="5774000" y="3160000"/>
            <a:ext cx="580000" cy="210000"/>
          </a:xfrm>
          <a:prstGeom prst="rect">
            <a:avLst/>
          </a:prstGeom>
          <a:solidFill>
            <a:srgbClr val="1565A8"/>
          </a:solidFill>
          <a:ln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3" name="BarY4"/>
          <p:cNvSpPr/>
          <p:nvPr/>
        </p:nvSpPr>
        <p:spPr>
          <a:xfrm>
            <a:off x="6426000" y="2962000"/>
            <a:ext cx="580000" cy="408000"/>
          </a:xfrm>
          <a:prstGeom prst="rect">
            <a:avLst/>
          </a:prstGeom>
          <a:solidFill>
            <a:srgbClr val="1A7C3E"/>
          </a:solidFill>
          <a:ln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4" name="BarY5"/>
          <p:cNvSpPr/>
          <p:nvPr/>
        </p:nvSpPr>
        <p:spPr>
          <a:xfrm>
            <a:off x="7078000" y="2670000"/>
            <a:ext cx="580000" cy="7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5" name="Baseline"/>
          <p:cNvSpPr/>
          <p:nvPr/>
        </p:nvSpPr>
        <p:spPr>
          <a:xfrm>
            <a:off x="4420000" y="3370000"/>
            <a:ext cx="4400000" cy="18000"/>
          </a:xfrm>
          <a:prstGeom prst="rect">
            <a:avLst/>
          </a:prstGeom>
          <a:solidFill>
            <a:srgbClr val="0B5E9C"/>
          </a:solidFill>
          <a:ln>
            <a:noFill/>
          </a:ln>
        </p:spPr>
        <p:txBody>
          <a:bodyPr/>
          <a:lstStyle/>
          <a:p>
            <a:endParaRPr lang="en-TR"/>
          </a:p>
        </p:txBody>
      </p:sp>
      <p:sp>
        <p:nvSpPr>
          <p:cNvPr id="46" name="XLabels"/>
          <p:cNvSpPr/>
          <p:nvPr/>
        </p:nvSpPr>
        <p:spPr>
          <a:xfrm>
            <a:off x="4420000" y="3395000"/>
            <a:ext cx="4400000" cy="180000"/>
          </a:xfrm>
          <a:prstGeom prst="rect">
            <a:avLst/>
          </a:prstGeom>
          <a:noFill/>
          <a:ln/>
        </p:spPr>
        <p:txBody>
          <a:bodyPr wrap="square" lIns="0" tIns="18000" rIns="0" bIns="0" rtlCol="0" anchor="t"/>
          <a:lstStyle/>
          <a:p>
            <a:pPr algn="l">
              <a:buNone/>
            </a:pPr>
            <a:r>
              <a:rPr lang="en-US" sz="750" dirty="0">
                <a:solidFill>
                  <a:srgbClr val="555555"/>
                </a:solidFill>
              </a:rPr>
              <a:t>  Y1          Y2           Y3           Y4           Y5</a:t>
            </a:r>
          </a:p>
        </p:txBody>
      </p:sp>
      <p:sp>
        <p:nvSpPr>
          <p:cNvPr id="50" name="ObjHeader"/>
          <p:cNvSpPr/>
          <p:nvPr/>
        </p:nvSpPr>
        <p:spPr>
          <a:xfrm>
            <a:off x="228600" y="3690000"/>
            <a:ext cx="8686800" cy="260000"/>
          </a:xfrm>
          <a:prstGeom prst="rect">
            <a:avLst/>
          </a:prstGeom>
          <a:solidFill>
            <a:srgbClr val="0B5E9C"/>
          </a:solidFill>
          <a:ln>
            <a:noFill/>
          </a:ln>
        </p:spPr>
        <p:txBody>
          <a:bodyPr wrap="square" lIns="91440" tIns="36000" rIns="91440" bIns="3600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Financial Objectives</a:t>
            </a:r>
          </a:p>
        </p:txBody>
      </p:sp>
      <p:sp>
        <p:nvSpPr>
          <p:cNvPr id="51" name="ObjBody"/>
          <p:cNvSpPr/>
          <p:nvPr/>
        </p:nvSpPr>
        <p:spPr>
          <a:xfrm>
            <a:off x="228600" y="3950000"/>
            <a:ext cx="8686800" cy="260000"/>
          </a:xfrm>
          <a:prstGeom prst="rect">
            <a:avLst/>
          </a:prstGeom>
          <a:solidFill>
            <a:srgbClr val="EEF4FB"/>
          </a:solidFill>
          <a:ln w="9525">
            <a:solidFill>
              <a:srgbClr val="D0E4F7"/>
            </a:solidFill>
          </a:ln>
        </p:spPr>
        <p:txBody>
          <a:bodyPr wrap="square" lIns="91440" tIns="27000" rIns="91440" bIns="27000" rtlCol="0" anchor="ctr"/>
          <a:lstStyle/>
          <a:p>
            <a:pPr algn="l">
              <a:buNone/>
            </a:pPr>
            <a:r>
              <a:rPr lang="en-US" sz="950" dirty="0">
                <a:solidFill>
                  <a:srgbClr val="333333"/>
                </a:solidFill>
              </a:rPr>
              <a:t>📈 Achieve profitability by Year 2    🌍 Expand user base internationally    💰 Reach €600,000 revenue in 5 years    🚀 Scalable digital growth</a:t>
            </a:r>
          </a:p>
        </p:txBody>
      </p:sp>
      <p:sp>
        <p:nvSpPr>
          <p:cNvPr id="60" name="HighlightBox"/>
          <p:cNvSpPr/>
          <p:nvPr/>
        </p:nvSpPr>
        <p:spPr>
          <a:xfrm>
            <a:off x="228600" y="4230000"/>
            <a:ext cx="8686800" cy="340000"/>
          </a:xfrm>
          <a:prstGeom prst="rect">
            <a:avLst/>
          </a:prstGeom>
          <a:solidFill>
            <a:srgbClr val="0B3D6E"/>
          </a:solidFill>
          <a:ln>
            <a:noFill/>
          </a:ln>
        </p:spPr>
        <p:txBody>
          <a:bodyPr wrap="square" lIns="137160" tIns="45720" rIns="13716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★  </a:t>
            </a:r>
            <a:r>
              <a:rPr lang="en-US" sz="1100" dirty="0">
                <a:solidFill>
                  <a:srgbClr val="FFFFFF"/>
                </a:solidFill>
              </a:rPr>
              <a:t>Student2Student’s online business model enables rapid growth, low operating costs, and long-term profitability.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Title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RESOURCE REQUIREMENTS</a:t>
            </a:r>
          </a:p>
        </p:txBody>
      </p:sp>
      <p:sp>
        <p:nvSpPr>
          <p:cNvPr id="5" name="SlideNum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BDD9F2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10" name="Box1Bg"/>
          <p:cNvSpPr/>
          <p:nvPr/>
        </p:nvSpPr>
        <p:spPr>
          <a:xfrm>
            <a:off x="164592" y="720720"/>
            <a:ext cx="2743200" cy="160020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ox1Header"/>
          <p:cNvSpPr/>
          <p:nvPr/>
        </p:nvSpPr>
        <p:spPr>
          <a:xfrm>
            <a:off x="164592" y="720720"/>
            <a:ext cx="2743200" cy="38016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Box1Title"/>
          <p:cNvSpPr/>
          <p:nvPr/>
        </p:nvSpPr>
        <p:spPr>
          <a:xfrm>
            <a:off x="274320" y="72072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</a:rPr>
              <a:t>👥 Personnel</a:t>
            </a:r>
          </a:p>
        </p:txBody>
      </p:sp>
      <p:sp>
        <p:nvSpPr>
          <p:cNvPr id="13" name="Box1Content"/>
          <p:cNvSpPr/>
          <p:nvPr/>
        </p:nvSpPr>
        <p:spPr>
          <a:xfrm>
            <a:off x="274320" y="1140480"/>
            <a:ext cx="2523600" cy="114336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Qualified student tutors &amp; course creators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Platform management team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Marketing &amp; social media specialists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Customer support representatives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Software developers &amp; IT support</a:t>
            </a:r>
          </a:p>
        </p:txBody>
      </p:sp>
      <p:sp>
        <p:nvSpPr>
          <p:cNvPr id="20" name="Box2Bg"/>
          <p:cNvSpPr/>
          <p:nvPr/>
        </p:nvSpPr>
        <p:spPr>
          <a:xfrm>
            <a:off x="3200400" y="720720"/>
            <a:ext cx="2743200" cy="160020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  <a:effectLst>
            <a:outerShdw blurRad="5715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Box2Header"/>
          <p:cNvSpPr/>
          <p:nvPr/>
        </p:nvSpPr>
        <p:spPr>
          <a:xfrm>
            <a:off x="3200400" y="720720"/>
            <a:ext cx="2743200" cy="380160"/>
          </a:xfrm>
          <a:prstGeom prst="rect">
            <a:avLst/>
          </a:prstGeom>
          <a:solidFill>
            <a:srgbClr val="084A7A"/>
          </a:solidFill>
          <a:ln w="12700">
            <a:solidFill>
              <a:srgbClr val="084A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Box2Title"/>
          <p:cNvSpPr/>
          <p:nvPr/>
        </p:nvSpPr>
        <p:spPr>
          <a:xfrm>
            <a:off x="3310128" y="72072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</a:rPr>
              <a:t>💻 Technology</a:t>
            </a:r>
          </a:p>
        </p:txBody>
      </p:sp>
      <p:sp>
        <p:nvSpPr>
          <p:cNvPr id="23" name="Box2Content"/>
          <p:cNvSpPr/>
          <p:nvPr/>
        </p:nvSpPr>
        <p:spPr>
          <a:xfrm>
            <a:off x="3310128" y="1140480"/>
            <a:ext cx="2523600" cy="114336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Online learning platform &amp; website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Secure payment processing system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Video conferencing &amp; communication tools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Cloud hosting &amp; data storage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Cybersecurity &amp; user verification</a:t>
            </a:r>
          </a:p>
        </p:txBody>
      </p:sp>
      <p:sp>
        <p:nvSpPr>
          <p:cNvPr id="30" name="Box3Bg"/>
          <p:cNvSpPr/>
          <p:nvPr/>
        </p:nvSpPr>
        <p:spPr>
          <a:xfrm>
            <a:off x="6236208" y="720720"/>
            <a:ext cx="2743200" cy="160020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Box3Header"/>
          <p:cNvSpPr/>
          <p:nvPr/>
        </p:nvSpPr>
        <p:spPr>
          <a:xfrm>
            <a:off x="6236208" y="720720"/>
            <a:ext cx="2743200" cy="38016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Box3Title"/>
          <p:cNvSpPr/>
          <p:nvPr/>
        </p:nvSpPr>
        <p:spPr>
          <a:xfrm>
            <a:off x="6345936" y="72072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</a:rPr>
              <a:t>💰 Finances</a:t>
            </a:r>
          </a:p>
        </p:txBody>
      </p:sp>
      <p:sp>
        <p:nvSpPr>
          <p:cNvPr id="33" name="Box3Content"/>
          <p:cNvSpPr/>
          <p:nvPr/>
        </p:nvSpPr>
        <p:spPr>
          <a:xfrm>
            <a:off x="6345936" y="1140480"/>
            <a:ext cx="2523600" cy="114336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Initial platform development costs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Marketing &amp; advertising budget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Website maintenance &amp; hosting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Operational &amp; administrative costs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Emergency reserve fund</a:t>
            </a:r>
          </a:p>
        </p:txBody>
      </p:sp>
      <p:sp>
        <p:nvSpPr>
          <p:cNvPr id="40" name="Box4Bg"/>
          <p:cNvSpPr/>
          <p:nvPr/>
        </p:nvSpPr>
        <p:spPr>
          <a:xfrm>
            <a:off x="164592" y="2388600"/>
            <a:ext cx="2743200" cy="154332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  <a:effectLst>
            <a:outerShdw blurRad="5715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Box4Header"/>
          <p:cNvSpPr/>
          <p:nvPr/>
        </p:nvSpPr>
        <p:spPr>
          <a:xfrm>
            <a:off x="164592" y="2388600"/>
            <a:ext cx="2743200" cy="380160"/>
          </a:xfrm>
          <a:prstGeom prst="rect">
            <a:avLst/>
          </a:prstGeom>
          <a:solidFill>
            <a:srgbClr val="084A7A"/>
          </a:solidFill>
          <a:ln w="12700">
            <a:solidFill>
              <a:srgbClr val="084A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Box4Title"/>
          <p:cNvSpPr/>
          <p:nvPr/>
        </p:nvSpPr>
        <p:spPr>
          <a:xfrm>
            <a:off x="274320" y="238860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</a:rPr>
              <a:t>🌐 Distribution</a:t>
            </a:r>
          </a:p>
        </p:txBody>
      </p:sp>
      <p:sp>
        <p:nvSpPr>
          <p:cNvPr id="43" name="Box4Content"/>
          <p:cNvSpPr/>
          <p:nvPr/>
        </p:nvSpPr>
        <p:spPr>
          <a:xfrm>
            <a:off x="274320" y="2808360"/>
            <a:ext cx="2523600" cy="108648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Web-based platform accessible worldwide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Mobile-friendly user experience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Integration with online learning tools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Digital delivery of courses &amp; tutoring</a:t>
            </a:r>
          </a:p>
        </p:txBody>
      </p:sp>
      <p:sp>
        <p:nvSpPr>
          <p:cNvPr id="50" name="Box5Bg"/>
          <p:cNvSpPr/>
          <p:nvPr/>
        </p:nvSpPr>
        <p:spPr>
          <a:xfrm>
            <a:off x="3200400" y="2388600"/>
            <a:ext cx="2743200" cy="154332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Box5Header"/>
          <p:cNvSpPr/>
          <p:nvPr/>
        </p:nvSpPr>
        <p:spPr>
          <a:xfrm>
            <a:off x="3200400" y="2388600"/>
            <a:ext cx="2743200" cy="38016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Box5Title"/>
          <p:cNvSpPr/>
          <p:nvPr/>
        </p:nvSpPr>
        <p:spPr>
          <a:xfrm>
            <a:off x="3310128" y="238860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</a:rPr>
              <a:t>📢 Promotion</a:t>
            </a:r>
          </a:p>
        </p:txBody>
      </p:sp>
      <p:sp>
        <p:nvSpPr>
          <p:cNvPr id="53" name="Box5Content"/>
          <p:cNvSpPr/>
          <p:nvPr/>
        </p:nvSpPr>
        <p:spPr>
          <a:xfrm>
            <a:off x="3310128" y="2808360"/>
            <a:ext cx="2523600" cy="108648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Social media marketing campaigns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University &amp; student org partnerships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Referral &amp; ambassador programs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Email marketing &amp; community engagement</a:t>
            </a:r>
          </a:p>
        </p:txBody>
      </p:sp>
      <p:sp>
        <p:nvSpPr>
          <p:cNvPr id="60" name="Box6Bg"/>
          <p:cNvSpPr/>
          <p:nvPr/>
        </p:nvSpPr>
        <p:spPr>
          <a:xfrm>
            <a:off x="6236208" y="2388600"/>
            <a:ext cx="2743200" cy="154332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Box6Header"/>
          <p:cNvSpPr/>
          <p:nvPr/>
        </p:nvSpPr>
        <p:spPr>
          <a:xfrm>
            <a:off x="6236208" y="2388600"/>
            <a:ext cx="2743200" cy="38016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Box6Title"/>
          <p:cNvSpPr/>
          <p:nvPr/>
        </p:nvSpPr>
        <p:spPr>
          <a:xfrm>
            <a:off x="6345936" y="238860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</a:rPr>
              <a:t>📚 Products &amp; Services</a:t>
            </a:r>
          </a:p>
        </p:txBody>
      </p:sp>
      <p:sp>
        <p:nvSpPr>
          <p:cNvPr id="63" name="Box6Content"/>
          <p:cNvSpPr/>
          <p:nvPr/>
        </p:nvSpPr>
        <p:spPr>
          <a:xfrm>
            <a:off x="6345936" y="2808360"/>
            <a:ext cx="2523600" cy="108648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Online courses &amp; recorded video lessons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Study guides &amp; practice tests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1-to-1 &amp; group tutoring sessions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Academic mentoring &amp; course support</a:t>
            </a:r>
          </a:p>
        </p:txBody>
      </p:sp>
      <p:sp>
        <p:nvSpPr>
          <p:cNvPr id="70" name="HighlightBg"/>
          <p:cNvSpPr/>
          <p:nvPr/>
        </p:nvSpPr>
        <p:spPr>
          <a:xfrm>
            <a:off x="164592" y="4012920"/>
            <a:ext cx="8814816" cy="975960"/>
          </a:xfrm>
          <a:prstGeom prst="rect">
            <a:avLst/>
          </a:prstGeom>
          <a:solidFill>
            <a:srgbClr val="3D2785"/>
          </a:solidFill>
          <a:ln w="12700">
            <a:solidFill>
              <a:srgbClr val="3D2785"/>
            </a:solidFill>
          </a:ln>
          <a:effectLst>
            <a:outerShdw blurRad="152400" dist="50800" dir="5400000" algn="ctr" rotWithShape="0">
              <a:srgbClr val="3D2785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HighlightAccent"/>
          <p:cNvSpPr/>
          <p:nvPr/>
        </p:nvSpPr>
        <p:spPr>
          <a:xfrm>
            <a:off x="164592" y="4012920"/>
            <a:ext cx="164592" cy="97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StarCircle"/>
          <p:cNvSpPr/>
          <p:nvPr/>
        </p:nvSpPr>
        <p:spPr>
          <a:xfrm>
            <a:off x="420624" y="4103640"/>
            <a:ext cx="548640" cy="548640"/>
          </a:xfrm>
          <a:prstGeom prst="ellipse">
            <a:avLst/>
          </a:prstGeom>
          <a:solidFill>
            <a:srgbClr val="F5A623">
              <a:alpha val="30000"/>
            </a:srgbClr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StarIcon"/>
          <p:cNvSpPr/>
          <p:nvPr/>
        </p:nvSpPr>
        <p:spPr>
          <a:xfrm>
            <a:off x="420624" y="4103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</a:rPr>
              <a:t>★</a:t>
            </a:r>
          </a:p>
        </p:txBody>
      </p:sp>
      <p:sp>
        <p:nvSpPr>
          <p:cNvPr id="74" name="HighlightText"/>
          <p:cNvSpPr/>
          <p:nvPr/>
        </p:nvSpPr>
        <p:spPr>
          <a:xfrm>
            <a:off x="1060704" y="4012920"/>
            <a:ext cx="7827120" cy="975960"/>
          </a:xfrm>
          <a:prstGeom prst="rect">
            <a:avLst/>
          </a:prstGeom>
          <a:noFill/>
          <a:ln/>
        </p:spPr>
        <p:txBody>
          <a:bodyPr wrap="square" lIns="0" tIns="0" rIns="9144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</a:rPr>
              <a:t>Student2Student combines talented people, modern technology, and scalable digital services to deliver affordable education worldwide.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Title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RISKS &amp; REWARDS</a:t>
            </a:r>
          </a:p>
        </p:txBody>
      </p:sp>
      <p:sp>
        <p:nvSpPr>
          <p:cNvPr id="5" name="SlideNum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11</a:t>
            </a:r>
          </a:p>
        </p:txBody>
      </p:sp>
      <p:sp>
        <p:nvSpPr>
          <p:cNvPr id="10" name="Box1Bg"/>
          <p:cNvSpPr/>
          <p:nvPr/>
        </p:nvSpPr>
        <p:spPr>
          <a:xfrm>
            <a:off x="164592" y="720720"/>
            <a:ext cx="2743200" cy="160020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ox1Header"/>
          <p:cNvSpPr/>
          <p:nvPr/>
        </p:nvSpPr>
        <p:spPr>
          <a:xfrm>
            <a:off x="164592" y="720720"/>
            <a:ext cx="2743200" cy="38016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Box1Title"/>
          <p:cNvSpPr/>
          <p:nvPr/>
        </p:nvSpPr>
        <p:spPr>
          <a:xfrm>
            <a:off x="274320" y="72072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⚠️ Potential Risks</a:t>
            </a:r>
          </a:p>
        </p:txBody>
      </p:sp>
      <p:sp>
        <p:nvSpPr>
          <p:cNvPr id="13" name="Box1Content"/>
          <p:cNvSpPr/>
          <p:nvPr/>
        </p:nvSpPr>
        <p:spPr>
          <a:xfrm>
            <a:off x="274320" y="1140480"/>
            <a:ext cx="2523600" cy="114336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Qualified student tutors &amp; course creators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Platform management team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Marketing &amp; social media specialists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Customer support representatives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Software developers &amp; IT support</a:t>
            </a:r>
          </a:p>
        </p:txBody>
      </p:sp>
      <p:sp>
        <p:nvSpPr>
          <p:cNvPr id="20" name="Box2Bg"/>
          <p:cNvSpPr/>
          <p:nvPr/>
        </p:nvSpPr>
        <p:spPr>
          <a:xfrm>
            <a:off x="3200400" y="720720"/>
            <a:ext cx="2743200" cy="160020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  <a:effectLst>
            <a:outerShdw blurRad="5715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Box2Header"/>
          <p:cNvSpPr/>
          <p:nvPr/>
        </p:nvSpPr>
        <p:spPr>
          <a:xfrm>
            <a:off x="3200400" y="720720"/>
            <a:ext cx="2743200" cy="380160"/>
          </a:xfrm>
          <a:prstGeom prst="rect">
            <a:avLst/>
          </a:prstGeom>
          <a:solidFill>
            <a:srgbClr val="084A7A"/>
          </a:solidFill>
          <a:ln w="12700">
            <a:solidFill>
              <a:srgbClr val="084A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Box2Title"/>
          <p:cNvSpPr/>
          <p:nvPr/>
        </p:nvSpPr>
        <p:spPr>
          <a:xfrm>
            <a:off x="3310128" y="72072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🌟 Expected Rewards</a:t>
            </a:r>
          </a:p>
        </p:txBody>
      </p:sp>
      <p:sp>
        <p:nvSpPr>
          <p:cNvPr id="23" name="Box2Content"/>
          <p:cNvSpPr/>
          <p:nvPr/>
        </p:nvSpPr>
        <p:spPr>
          <a:xfrm>
            <a:off x="3310128" y="1140480"/>
            <a:ext cx="2523600" cy="114336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Online learning platform &amp; website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Secure payment processing system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Video conferencing &amp; communication tools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Cloud hosting &amp; data storage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Cybersecurity &amp; user verification</a:t>
            </a:r>
          </a:p>
        </p:txBody>
      </p:sp>
      <p:sp>
        <p:nvSpPr>
          <p:cNvPr id="30" name="Box3Bg"/>
          <p:cNvSpPr/>
          <p:nvPr/>
        </p:nvSpPr>
        <p:spPr>
          <a:xfrm>
            <a:off x="6236208" y="720720"/>
            <a:ext cx="2743200" cy="160020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Box3Header"/>
          <p:cNvSpPr/>
          <p:nvPr/>
        </p:nvSpPr>
        <p:spPr>
          <a:xfrm>
            <a:off x="6236208" y="720720"/>
            <a:ext cx="2743200" cy="38016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Box3Title"/>
          <p:cNvSpPr/>
          <p:nvPr/>
        </p:nvSpPr>
        <p:spPr>
          <a:xfrm>
            <a:off x="6345936" y="72072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📈 Investment Potential</a:t>
            </a:r>
          </a:p>
        </p:txBody>
      </p:sp>
      <p:sp>
        <p:nvSpPr>
          <p:cNvPr id="33" name="Box3Content"/>
          <p:cNvSpPr/>
          <p:nvPr/>
        </p:nvSpPr>
        <p:spPr>
          <a:xfrm>
            <a:off x="6345936" y="1140480"/>
            <a:ext cx="2523600" cy="114336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Initial platform development costs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Marketing &amp; advertising budget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Website maintenance &amp; hosting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Operational &amp; administrative costs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Emergency reserve fund</a:t>
            </a:r>
          </a:p>
        </p:txBody>
      </p:sp>
      <p:sp>
        <p:nvSpPr>
          <p:cNvPr id="40" name="Box4Bg"/>
          <p:cNvSpPr/>
          <p:nvPr/>
        </p:nvSpPr>
        <p:spPr>
          <a:xfrm>
            <a:off x="164592" y="2388600"/>
            <a:ext cx="2743200" cy="154332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  <a:effectLst>
            <a:outerShdw blurRad="5715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Box4Header"/>
          <p:cNvSpPr/>
          <p:nvPr/>
        </p:nvSpPr>
        <p:spPr>
          <a:xfrm>
            <a:off x="164592" y="2388600"/>
            <a:ext cx="2743200" cy="380160"/>
          </a:xfrm>
          <a:prstGeom prst="rect">
            <a:avLst/>
          </a:prstGeom>
          <a:solidFill>
            <a:srgbClr val="084A7A"/>
          </a:solidFill>
          <a:ln w="12700">
            <a:solidFill>
              <a:srgbClr val="084A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Box4Title"/>
          <p:cNvSpPr/>
          <p:nvPr/>
        </p:nvSpPr>
        <p:spPr>
          <a:xfrm>
            <a:off x="274320" y="238860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★ Key Message</a:t>
            </a:r>
          </a:p>
        </p:txBody>
      </p:sp>
      <p:sp>
        <p:nvSpPr>
          <p:cNvPr id="43" name="Box4Content"/>
          <p:cNvSpPr/>
          <p:nvPr/>
        </p:nvSpPr>
        <p:spPr>
          <a:xfrm>
            <a:off x="274320" y="2808360"/>
            <a:ext cx="2523600" cy="108648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Web-based platform accessible worldwide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Mobile-friendly user experience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Integration with online learning tools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Digital delivery of courses &amp; tutoring</a:t>
            </a:r>
          </a:p>
        </p:txBody>
      </p:sp>
      <p:sp>
        <p:nvSpPr>
          <p:cNvPr id="50" name="Box5Bg"/>
          <p:cNvSpPr/>
          <p:nvPr/>
        </p:nvSpPr>
        <p:spPr>
          <a:xfrm>
            <a:off x="3200400" y="2388600"/>
            <a:ext cx="2743200" cy="154332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Box5Header"/>
          <p:cNvSpPr/>
          <p:nvPr/>
        </p:nvSpPr>
        <p:spPr>
          <a:xfrm>
            <a:off x="3200400" y="2388600"/>
            <a:ext cx="2743200" cy="38016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Box5Title"/>
          <p:cNvSpPr/>
          <p:nvPr/>
        </p:nvSpPr>
        <p:spPr>
          <a:xfrm>
            <a:off x="3310128" y="238860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</a:rPr>
              <a:t>📢 Promotion</a:t>
            </a:r>
          </a:p>
        </p:txBody>
      </p:sp>
      <p:sp>
        <p:nvSpPr>
          <p:cNvPr id="53" name="Box5Content"/>
          <p:cNvSpPr/>
          <p:nvPr/>
        </p:nvSpPr>
        <p:spPr>
          <a:xfrm>
            <a:off x="3310128" y="2808360"/>
            <a:ext cx="2523600" cy="108648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Social media marketing campaigns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University &amp; student org partnerships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Referral &amp; ambassador programs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Email marketing &amp; community engagement</a:t>
            </a:r>
          </a:p>
        </p:txBody>
      </p:sp>
      <p:sp>
        <p:nvSpPr>
          <p:cNvPr id="60" name="Box6Bg"/>
          <p:cNvSpPr/>
          <p:nvPr/>
        </p:nvSpPr>
        <p:spPr>
          <a:xfrm>
            <a:off x="6236208" y="2388600"/>
            <a:ext cx="2743200" cy="154332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Box6Header"/>
          <p:cNvSpPr/>
          <p:nvPr/>
        </p:nvSpPr>
        <p:spPr>
          <a:xfrm>
            <a:off x="6236208" y="2388600"/>
            <a:ext cx="2743200" cy="38016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Box6Title"/>
          <p:cNvSpPr/>
          <p:nvPr/>
        </p:nvSpPr>
        <p:spPr>
          <a:xfrm>
            <a:off x="6345936" y="238860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</a:rPr>
              <a:t>📚 Products &amp; Services</a:t>
            </a:r>
          </a:p>
        </p:txBody>
      </p:sp>
      <p:sp>
        <p:nvSpPr>
          <p:cNvPr id="63" name="Box6Content"/>
          <p:cNvSpPr/>
          <p:nvPr/>
        </p:nvSpPr>
        <p:spPr>
          <a:xfrm>
            <a:off x="6345936" y="2808360"/>
            <a:ext cx="2523600" cy="108648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Online courses &amp; recorded video lessons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Study guides &amp; practice tests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1-to-1 &amp; group tutoring sessions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Academic mentoring &amp; course support</a:t>
            </a:r>
          </a:p>
        </p:txBody>
      </p:sp>
      <p:sp>
        <p:nvSpPr>
          <p:cNvPr id="70" name="HighlightBg"/>
          <p:cNvSpPr/>
          <p:nvPr/>
        </p:nvSpPr>
        <p:spPr>
          <a:xfrm>
            <a:off x="164592" y="4012920"/>
            <a:ext cx="8814816" cy="975960"/>
          </a:xfrm>
          <a:prstGeom prst="rect">
            <a:avLst/>
          </a:prstGeom>
          <a:solidFill>
            <a:srgbClr val="3D2785"/>
          </a:solidFill>
          <a:ln w="12700">
            <a:solidFill>
              <a:srgbClr val="3D2785"/>
            </a:solidFill>
          </a:ln>
          <a:effectLst>
            <a:outerShdw blurRad="152400" dist="50800" dir="5400000" algn="ctr" rotWithShape="0">
              <a:srgbClr val="3D2785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HighlightAccent"/>
          <p:cNvSpPr/>
          <p:nvPr/>
        </p:nvSpPr>
        <p:spPr>
          <a:xfrm>
            <a:off x="164592" y="4012920"/>
            <a:ext cx="164592" cy="97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StarCircle"/>
          <p:cNvSpPr/>
          <p:nvPr/>
        </p:nvSpPr>
        <p:spPr>
          <a:xfrm>
            <a:off x="420624" y="4103640"/>
            <a:ext cx="548640" cy="548640"/>
          </a:xfrm>
          <a:prstGeom prst="ellipse">
            <a:avLst/>
          </a:prstGeom>
          <a:solidFill>
            <a:srgbClr val="F5A623">
              <a:alpha val="30000"/>
            </a:srgbClr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StarIcon"/>
          <p:cNvSpPr/>
          <p:nvPr/>
        </p:nvSpPr>
        <p:spPr>
          <a:xfrm>
            <a:off x="420624" y="4103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</a:rPr>
              <a:t>★</a:t>
            </a:r>
          </a:p>
        </p:txBody>
      </p:sp>
      <p:sp>
        <p:nvSpPr>
          <p:cNvPr id="74" name="HighlightText"/>
          <p:cNvSpPr/>
          <p:nvPr/>
        </p:nvSpPr>
        <p:spPr>
          <a:xfrm>
            <a:off x="1060704" y="4012920"/>
            <a:ext cx="7827120" cy="975960"/>
          </a:xfrm>
          <a:prstGeom prst="rect">
            <a:avLst/>
          </a:prstGeom>
          <a:noFill/>
          <a:ln/>
        </p:spPr>
        <p:txBody>
          <a:bodyPr wrap="square" lIns="0" tIns="0" rIns="9144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</a:rPr>
              <a:t>Student2Student combines talented people, modern technology, and scalable digital services to deliver affordable education worldwide.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Title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KEY ISSUES</a:t>
            </a:r>
          </a:p>
        </p:txBody>
      </p:sp>
      <p:sp>
        <p:nvSpPr>
          <p:cNvPr id="5" name="SlideNum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</a:t>
            </a:r>
          </a:p>
        </p:txBody>
      </p:sp>
      <p:sp>
        <p:nvSpPr>
          <p:cNvPr id="10" name="Box1Bg"/>
          <p:cNvSpPr/>
          <p:nvPr/>
        </p:nvSpPr>
        <p:spPr>
          <a:xfrm>
            <a:off x="164592" y="720720"/>
            <a:ext cx="2743200" cy="160020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ox1Header"/>
          <p:cNvSpPr/>
          <p:nvPr/>
        </p:nvSpPr>
        <p:spPr>
          <a:xfrm>
            <a:off x="164592" y="720720"/>
            <a:ext cx="2743200" cy="38016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Box1Title"/>
          <p:cNvSpPr/>
          <p:nvPr/>
        </p:nvSpPr>
        <p:spPr>
          <a:xfrm>
            <a:off x="274320" y="72072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📌 Near‑Term Priorities</a:t>
            </a:r>
          </a:p>
        </p:txBody>
      </p:sp>
      <p:sp>
        <p:nvSpPr>
          <p:cNvPr id="13" name="Box1Content"/>
          <p:cNvSpPr/>
          <p:nvPr/>
        </p:nvSpPr>
        <p:spPr>
          <a:xfrm>
            <a:off x="274320" y="1140480"/>
            <a:ext cx="2523600" cy="114336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Qualified student tutors &amp; course creators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Platform management team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Marketing &amp; social media specialists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Customer support representatives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Software developers &amp; IT support</a:t>
            </a:r>
          </a:p>
        </p:txBody>
      </p:sp>
      <p:sp>
        <p:nvSpPr>
          <p:cNvPr id="20" name="Box2Bg"/>
          <p:cNvSpPr/>
          <p:nvPr/>
        </p:nvSpPr>
        <p:spPr>
          <a:xfrm>
            <a:off x="3200400" y="720720"/>
            <a:ext cx="2743200" cy="160020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  <a:effectLst>
            <a:outerShdw blurRad="5715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Box2Header"/>
          <p:cNvSpPr/>
          <p:nvPr/>
        </p:nvSpPr>
        <p:spPr>
          <a:xfrm>
            <a:off x="3200400" y="720720"/>
            <a:ext cx="2743200" cy="380160"/>
          </a:xfrm>
          <a:prstGeom prst="rect">
            <a:avLst/>
          </a:prstGeom>
          <a:solidFill>
            <a:srgbClr val="084A7A"/>
          </a:solidFill>
          <a:ln w="12700">
            <a:solidFill>
              <a:srgbClr val="084A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Box2Title"/>
          <p:cNvSpPr/>
          <p:nvPr/>
        </p:nvSpPr>
        <p:spPr>
          <a:xfrm>
            <a:off x="3310128" y="72072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🌍 Long‑Term Priorities</a:t>
            </a:r>
          </a:p>
        </p:txBody>
      </p:sp>
      <p:sp>
        <p:nvSpPr>
          <p:cNvPr id="23" name="Box2Content"/>
          <p:cNvSpPr/>
          <p:nvPr/>
        </p:nvSpPr>
        <p:spPr>
          <a:xfrm>
            <a:off x="3310128" y="1140480"/>
            <a:ext cx="2523600" cy="114336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Online learning platform &amp; website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Secure payment processing system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Video conferencing &amp; communication tools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Cloud hosting &amp; data storage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Cybersecurity &amp; user verification</a:t>
            </a:r>
          </a:p>
        </p:txBody>
      </p:sp>
      <p:sp>
        <p:nvSpPr>
          <p:cNvPr id="30" name="Box3Bg"/>
          <p:cNvSpPr/>
          <p:nvPr/>
        </p:nvSpPr>
        <p:spPr>
          <a:xfrm>
            <a:off x="6236208" y="720720"/>
            <a:ext cx="2743200" cy="160020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Box3Header"/>
          <p:cNvSpPr/>
          <p:nvPr/>
        </p:nvSpPr>
        <p:spPr>
          <a:xfrm>
            <a:off x="6236208" y="720720"/>
            <a:ext cx="2743200" cy="38016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Box3Title"/>
          <p:cNvSpPr/>
          <p:nvPr/>
        </p:nvSpPr>
        <p:spPr>
          <a:xfrm>
            <a:off x="6345936" y="72072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💰 Future Investment Needs</a:t>
            </a:r>
          </a:p>
        </p:txBody>
      </p:sp>
      <p:sp>
        <p:nvSpPr>
          <p:cNvPr id="33" name="Box3Content"/>
          <p:cNvSpPr/>
          <p:nvPr/>
        </p:nvSpPr>
        <p:spPr>
          <a:xfrm>
            <a:off x="6345936" y="1140480"/>
            <a:ext cx="2523600" cy="114336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Initial platform development costs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Marketing &amp; advertising budget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Website maintenance &amp; hosting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Operational &amp; administrative costs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Emergency reserve fund</a:t>
            </a:r>
          </a:p>
        </p:txBody>
      </p:sp>
      <p:sp>
        <p:nvSpPr>
          <p:cNvPr id="40" name="Box4Bg"/>
          <p:cNvSpPr/>
          <p:nvPr/>
        </p:nvSpPr>
        <p:spPr>
          <a:xfrm>
            <a:off x="164592" y="2388600"/>
            <a:ext cx="2743200" cy="1543320"/>
          </a:xfrm>
          <a:prstGeom prst="rect">
            <a:avLst/>
          </a:prstGeom>
          <a:solidFill>
            <a:srgbClr val="0B5E9C"/>
          </a:solidFill>
          <a:ln w="12700">
            <a:solidFill>
              <a:srgbClr val="0B5E9C"/>
            </a:solidFill>
          </a:ln>
          <a:effectLst>
            <a:outerShdw blurRad="57150" dist="19050" dir="540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Box4Header"/>
          <p:cNvSpPr/>
          <p:nvPr/>
        </p:nvSpPr>
        <p:spPr>
          <a:xfrm>
            <a:off x="164592" y="2388600"/>
            <a:ext cx="2743200" cy="380160"/>
          </a:xfrm>
          <a:prstGeom prst="rect">
            <a:avLst/>
          </a:prstGeom>
          <a:solidFill>
            <a:srgbClr val="084A7A"/>
          </a:solidFill>
          <a:ln w="12700">
            <a:solidFill>
              <a:srgbClr val="084A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Box4Title"/>
          <p:cNvSpPr/>
          <p:nvPr/>
        </p:nvSpPr>
        <p:spPr>
          <a:xfrm>
            <a:off x="274320" y="238860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★ Key Message</a:t>
            </a:r>
          </a:p>
        </p:txBody>
      </p:sp>
      <p:sp>
        <p:nvSpPr>
          <p:cNvPr id="43" name="Box4Content"/>
          <p:cNvSpPr/>
          <p:nvPr/>
        </p:nvSpPr>
        <p:spPr>
          <a:xfrm>
            <a:off x="274320" y="2808360"/>
            <a:ext cx="2523600" cy="108648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Web-based platform accessible worldwide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Mobile-friendly user experience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Integration with online learning tools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BDD9F2"/>
                </a:solidFill>
                <a:latin typeface="Calibri" pitchFamily="34" charset="0"/>
              </a:rPr>
              <a:t>Digital delivery of courses &amp; tutoring</a:t>
            </a:r>
          </a:p>
        </p:txBody>
      </p:sp>
      <p:sp>
        <p:nvSpPr>
          <p:cNvPr id="50" name="Box5Bg"/>
          <p:cNvSpPr/>
          <p:nvPr/>
        </p:nvSpPr>
        <p:spPr>
          <a:xfrm>
            <a:off x="3200400" y="2388600"/>
            <a:ext cx="2743200" cy="154332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Box5Header"/>
          <p:cNvSpPr/>
          <p:nvPr/>
        </p:nvSpPr>
        <p:spPr>
          <a:xfrm>
            <a:off x="3200400" y="2388600"/>
            <a:ext cx="2743200" cy="38016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Box5Title"/>
          <p:cNvSpPr/>
          <p:nvPr/>
        </p:nvSpPr>
        <p:spPr>
          <a:xfrm>
            <a:off x="3310128" y="238860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</a:rPr>
              <a:t>📢 Promotion</a:t>
            </a:r>
          </a:p>
        </p:txBody>
      </p:sp>
      <p:sp>
        <p:nvSpPr>
          <p:cNvPr id="53" name="Box5Content"/>
          <p:cNvSpPr/>
          <p:nvPr/>
        </p:nvSpPr>
        <p:spPr>
          <a:xfrm>
            <a:off x="3310128" y="2808360"/>
            <a:ext cx="2523600" cy="108648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Social media marketing campaigns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University &amp; student org partnerships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Referral &amp; ambassador programs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Email marketing &amp; community engagement</a:t>
            </a:r>
          </a:p>
        </p:txBody>
      </p:sp>
      <p:sp>
        <p:nvSpPr>
          <p:cNvPr id="60" name="Box6Bg"/>
          <p:cNvSpPr/>
          <p:nvPr/>
        </p:nvSpPr>
        <p:spPr>
          <a:xfrm>
            <a:off x="6236208" y="2388600"/>
            <a:ext cx="2743200" cy="1543320"/>
          </a:xfrm>
          <a:prstGeom prst="rect">
            <a:avLst/>
          </a:prstGeom>
          <a:solidFill>
            <a:srgbClr val="EFF3F7"/>
          </a:solidFill>
          <a:ln w="15240">
            <a:solidFill>
              <a:srgbClr val="C5D3E0"/>
            </a:solidFill>
          </a:ln>
          <a:effectLst>
            <a:outerShdw blurRad="57150" dist="19050" dir="5400000" algn="ctr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Box6Header"/>
          <p:cNvSpPr/>
          <p:nvPr/>
        </p:nvSpPr>
        <p:spPr>
          <a:xfrm>
            <a:off x="6236208" y="2388600"/>
            <a:ext cx="2743200" cy="380160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Box6Title"/>
          <p:cNvSpPr/>
          <p:nvPr/>
        </p:nvSpPr>
        <p:spPr>
          <a:xfrm>
            <a:off x="6345936" y="2388600"/>
            <a:ext cx="25236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</a:rPr>
              <a:t>📚 Products &amp; Services</a:t>
            </a:r>
          </a:p>
        </p:txBody>
      </p:sp>
      <p:sp>
        <p:nvSpPr>
          <p:cNvPr id="63" name="Box6Content"/>
          <p:cNvSpPr/>
          <p:nvPr/>
        </p:nvSpPr>
        <p:spPr>
          <a:xfrm>
            <a:off x="6345936" y="2808360"/>
            <a:ext cx="2523600" cy="1086480"/>
          </a:xfrm>
          <a:prstGeom prst="rect">
            <a:avLst/>
          </a:prstGeom>
          <a:noFill/>
          <a:ln/>
        </p:spPr>
        <p:txBody>
          <a:bodyPr wrap="square" lIns="0" tIns="45720" rIns="45720" bIns="0" rtlCol="0" anchor="t"/>
          <a:lstStyle/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Online courses &amp; recorded video lessons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Study guides &amp; practice tests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1-to-1 &amp; group tutoring sessions</a:t>
            </a:r>
          </a:p>
          <a:p>
            <a:pPr marL="114300" indent="-114300" algn="l">
              <a:buNone/>
            </a:pPr>
            <a:r>
              <a:rPr lang="en-US" sz="750" b="1" dirty="0">
                <a:solidFill>
                  <a:srgbClr val="0B5E9C"/>
                </a:solidFill>
                <a:latin typeface="Calibri" pitchFamily="34" charset="0"/>
              </a:rPr>
              <a:t>• </a:t>
            </a:r>
            <a:r>
              <a:rPr lang="en-US" sz="750" dirty="0">
                <a:solidFill>
                  <a:srgbClr val="2D4A62"/>
                </a:solidFill>
                <a:latin typeface="Calibri" pitchFamily="34" charset="0"/>
              </a:rPr>
              <a:t>Academic mentoring &amp; course support</a:t>
            </a:r>
          </a:p>
        </p:txBody>
      </p:sp>
      <p:sp>
        <p:nvSpPr>
          <p:cNvPr id="70" name="HighlightBg"/>
          <p:cNvSpPr/>
          <p:nvPr/>
        </p:nvSpPr>
        <p:spPr>
          <a:xfrm>
            <a:off x="164592" y="4012920"/>
            <a:ext cx="8814816" cy="975960"/>
          </a:xfrm>
          <a:prstGeom prst="rect">
            <a:avLst/>
          </a:prstGeom>
          <a:solidFill>
            <a:srgbClr val="3D2785"/>
          </a:solidFill>
          <a:ln w="12700">
            <a:solidFill>
              <a:srgbClr val="3D2785"/>
            </a:solidFill>
          </a:ln>
          <a:effectLst>
            <a:outerShdw blurRad="152400" dist="50800" dir="5400000" algn="ctr" rotWithShape="0">
              <a:srgbClr val="3D2785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HighlightAccent"/>
          <p:cNvSpPr/>
          <p:nvPr/>
        </p:nvSpPr>
        <p:spPr>
          <a:xfrm>
            <a:off x="164592" y="4012920"/>
            <a:ext cx="164592" cy="975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StarCircle"/>
          <p:cNvSpPr/>
          <p:nvPr/>
        </p:nvSpPr>
        <p:spPr>
          <a:xfrm>
            <a:off x="420624" y="4103640"/>
            <a:ext cx="548640" cy="548640"/>
          </a:xfrm>
          <a:prstGeom prst="ellipse">
            <a:avLst/>
          </a:prstGeom>
          <a:solidFill>
            <a:srgbClr val="F5A623">
              <a:alpha val="30000"/>
            </a:srgbClr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StarIcon"/>
          <p:cNvSpPr/>
          <p:nvPr/>
        </p:nvSpPr>
        <p:spPr>
          <a:xfrm>
            <a:off x="420624" y="4103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</a:rPr>
              <a:t>★</a:t>
            </a:r>
          </a:p>
        </p:txBody>
      </p:sp>
      <p:sp>
        <p:nvSpPr>
          <p:cNvPr id="74" name="HighlightText"/>
          <p:cNvSpPr/>
          <p:nvPr/>
        </p:nvSpPr>
        <p:spPr>
          <a:xfrm>
            <a:off x="1060704" y="4012920"/>
            <a:ext cx="7827120" cy="975960"/>
          </a:xfrm>
          <a:prstGeom prst="rect">
            <a:avLst/>
          </a:prstGeom>
          <a:noFill/>
          <a:ln/>
        </p:spPr>
        <p:txBody>
          <a:bodyPr wrap="square" lIns="0" tIns="0" rIns="9144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</a:rPr>
              <a:t>Student2Student combines talented people, modern technology, and scalable digital services to deliver affordable education worldwide.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1730</Words>
  <Application>Microsoft Macintosh PowerPoint</Application>
  <PresentationFormat>On-screen Show (16:9)</PresentationFormat>
  <Paragraphs>297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Student2Student</dc:title>
  <dc:subject>PptxGenJS Presentation</dc:subject>
  <dc:creator>PptxGenJS</dc:creator>
  <cp:lastModifiedBy>Enis Ögdüm</cp:lastModifiedBy>
  <cp:revision>4</cp:revision>
  <dcterms:created xsi:type="dcterms:W3CDTF">2026-06-03T09:35:37Z</dcterms:created>
  <dcterms:modified xsi:type="dcterms:W3CDTF">2026-06-16T08:19:23Z</dcterms:modified>
</cp:coreProperties>
</file>